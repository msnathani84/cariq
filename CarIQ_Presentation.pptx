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9" r:id="rId9"/>
    <p:sldId id="262" r:id="rId10"/>
    <p:sldId id="263" r:id="rId11"/>
    <p:sldId id="270" r:id="rId12"/>
    <p:sldId id="271" r:id="rId13"/>
    <p:sldId id="272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9" autoAdjust="0"/>
    <p:restoredTop sz="86410"/>
  </p:normalViewPr>
  <p:slideViewPr>
    <p:cSldViewPr>
      <p:cViewPr varScale="1">
        <p:scale>
          <a:sx n="127" d="100"/>
          <a:sy n="127" d="100"/>
        </p:scale>
        <p:origin x="14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C5521-6ED6-48B0-8AA8-E7779A0DEDB4}" type="datetimeFigureOut">
              <a:rPr lang="en-IN" smtClean="0"/>
              <a:t>08/05/26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49A8B-2988-4AC6-B8E5-EB2DD7C52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18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A89B-73E9-4634-906A-372D7DAAEC88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89CC6-BD01-4423-8B7B-6785AC6E038A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E605F-490B-452B-8B05-14314302746A}" type="datetime3">
              <a:rPr lang="en-US" smtClean="0"/>
              <a:t>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8B09-D047-4D3B-9154-76668E802024}" type="datetime3">
              <a:rPr lang="en-US" smtClean="0"/>
              <a:t>8 May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9AB13-D051-4954-9051-64825C74F75A}" type="datetime3">
              <a:rPr lang="en-US" smtClean="0"/>
              <a:t>8 May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7D31-5CC0-4E67-88E7-00FF86610318}" type="datetime3">
              <a:rPr lang="en-US" smtClean="0"/>
              <a:t>8 May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FCAE-7BB8-4D70-9DA7-22EB6F9CEFAD}" type="datetime3">
              <a:rPr lang="en-US" smtClean="0"/>
              <a:t>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B2C22-3D65-435D-9A2D-35A61489EA27}" type="datetime3">
              <a:rPr lang="en-US" smtClean="0"/>
              <a:t>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ED50A-77A2-4209-A1D7-0C22C65C2A87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8FB2-9FE4-487D-965B-D0DA0A1DC7DD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C0AC6-A0B5-4ADF-B745-250ADF97C92C}" type="datetime3">
              <a:rPr lang="en-US" smtClean="0"/>
              <a:t>8 May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TIP Presentation, MBATECH  Computers,MPSTME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3BD0B-EB37-415E-A943-CA22315060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088" y="1295400"/>
            <a:ext cx="7772400" cy="1676400"/>
          </a:xfrm>
        </p:spPr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Project Title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743200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Student Name: Mohammed Saad Nathani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Roll No:   C104           SAP ID:    70322000190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 BTI  Div – 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TIP Organization: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Industry Mentor: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Faculty Mentor: Miss Radhika Patil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A89B-73E9-4634-906A-372D7DAAEC88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81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Roadmap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2</a:t>
            </a:fld>
            <a:endParaRPr lang="en-US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150E90D3-3806-5379-A1EC-6A0FC311AA60}"/>
              </a:ext>
            </a:extLst>
          </p:cNvPr>
          <p:cNvSpPr/>
          <p:nvPr/>
        </p:nvSpPr>
        <p:spPr>
          <a:xfrm>
            <a:off x="475622" y="2679192"/>
            <a:ext cx="4023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A0C6D2EA-3AA0-F34D-2416-1240D189CC10}"/>
              </a:ext>
            </a:extLst>
          </p:cNvPr>
          <p:cNvSpPr/>
          <p:nvPr/>
        </p:nvSpPr>
        <p:spPr>
          <a:xfrm>
            <a:off x="475622" y="2679192"/>
            <a:ext cx="50292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DA4F980D-90AB-4290-2B5E-67BA12FC9B09}"/>
              </a:ext>
            </a:extLst>
          </p:cNvPr>
          <p:cNvSpPr/>
          <p:nvPr/>
        </p:nvSpPr>
        <p:spPr>
          <a:xfrm>
            <a:off x="475622" y="26791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C094EED-FCC1-0936-E4C7-9AFC3C6B1D07}"/>
              </a:ext>
            </a:extLst>
          </p:cNvPr>
          <p:cNvSpPr/>
          <p:nvPr/>
        </p:nvSpPr>
        <p:spPr>
          <a:xfrm>
            <a:off x="1069982" y="27523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3E74ECD7-EE2A-2E28-F613-AD4637B584DA}"/>
              </a:ext>
            </a:extLst>
          </p:cNvPr>
          <p:cNvSpPr/>
          <p:nvPr/>
        </p:nvSpPr>
        <p:spPr>
          <a:xfrm>
            <a:off x="1069982" y="30632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market context</a:t>
            </a:r>
            <a:endParaRPr lang="en-US" sz="9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79BA2E87-A308-8F54-4CC2-AF260B1322F8}"/>
              </a:ext>
            </a:extLst>
          </p:cNvPr>
          <p:cNvSpPr/>
          <p:nvPr/>
        </p:nvSpPr>
        <p:spPr>
          <a:xfrm>
            <a:off x="475622" y="3593592"/>
            <a:ext cx="4023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C29AA365-F3BC-7510-DB51-3E0D18A1725A}"/>
              </a:ext>
            </a:extLst>
          </p:cNvPr>
          <p:cNvSpPr/>
          <p:nvPr/>
        </p:nvSpPr>
        <p:spPr>
          <a:xfrm>
            <a:off x="475622" y="3593592"/>
            <a:ext cx="50292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6B798DC-7A5F-9ABF-EBF5-04B619544E81}"/>
              </a:ext>
            </a:extLst>
          </p:cNvPr>
          <p:cNvSpPr/>
          <p:nvPr/>
        </p:nvSpPr>
        <p:spPr>
          <a:xfrm>
            <a:off x="475622" y="35935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5998421F-CDCE-3BD3-056E-6EF4F7591A20}"/>
              </a:ext>
            </a:extLst>
          </p:cNvPr>
          <p:cNvSpPr/>
          <p:nvPr/>
        </p:nvSpPr>
        <p:spPr>
          <a:xfrm>
            <a:off x="1069982" y="36667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10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645E7A81-4091-CFF0-FD7B-306647144200}"/>
              </a:ext>
            </a:extLst>
          </p:cNvPr>
          <p:cNvSpPr/>
          <p:nvPr/>
        </p:nvSpPr>
        <p:spPr>
          <a:xfrm>
            <a:off x="1069982" y="39776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CarIQ — platform overview</a:t>
            </a:r>
            <a:endParaRPr lang="en-US" sz="900" dirty="0"/>
          </a:p>
        </p:txBody>
      </p:sp>
      <p:sp>
        <p:nvSpPr>
          <p:cNvPr id="59" name="Shape 20">
            <a:extLst>
              <a:ext uri="{FF2B5EF4-FFF2-40B4-BE49-F238E27FC236}">
                <a16:creationId xmlns:a16="http://schemas.microsoft.com/office/drawing/2014/main" id="{9653ED1B-108B-4D3A-A3E5-6DB5B682C887}"/>
              </a:ext>
            </a:extLst>
          </p:cNvPr>
          <p:cNvSpPr/>
          <p:nvPr/>
        </p:nvSpPr>
        <p:spPr>
          <a:xfrm>
            <a:off x="475622" y="4507992"/>
            <a:ext cx="4023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01EBEB12-E12E-2546-0D8D-77CF8743EE34}"/>
              </a:ext>
            </a:extLst>
          </p:cNvPr>
          <p:cNvSpPr/>
          <p:nvPr/>
        </p:nvSpPr>
        <p:spPr>
          <a:xfrm>
            <a:off x="475622" y="4507992"/>
            <a:ext cx="50292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FDACFCA-FAF0-7E7F-1FBB-F6944A7F0F84}"/>
              </a:ext>
            </a:extLst>
          </p:cNvPr>
          <p:cNvSpPr/>
          <p:nvPr/>
        </p:nvSpPr>
        <p:spPr>
          <a:xfrm>
            <a:off x="475622" y="45079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ADAB69C9-3BC1-72B2-55F0-A27B9673C66C}"/>
              </a:ext>
            </a:extLst>
          </p:cNvPr>
          <p:cNvSpPr/>
          <p:nvPr/>
        </p:nvSpPr>
        <p:spPr>
          <a:xfrm>
            <a:off x="1069982" y="45811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Department</a:t>
            </a:r>
            <a:endParaRPr lang="en-US" sz="11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E46D20D9-E979-C02E-F8BC-72E1E0E5199F}"/>
              </a:ext>
            </a:extLst>
          </p:cNvPr>
          <p:cNvSpPr/>
          <p:nvPr/>
        </p:nvSpPr>
        <p:spPr>
          <a:xfrm>
            <a:off x="1069982" y="48920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Engineering, MPSTME</a:t>
            </a:r>
            <a:endParaRPr lang="en-US" sz="900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9B146E23-B4CB-5D51-DA75-321549EDD162}"/>
              </a:ext>
            </a:extLst>
          </p:cNvPr>
          <p:cNvSpPr/>
          <p:nvPr/>
        </p:nvSpPr>
        <p:spPr>
          <a:xfrm>
            <a:off x="475622" y="5422392"/>
            <a:ext cx="4023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A2683763-1007-EF90-40D1-1147B30CB097}"/>
              </a:ext>
            </a:extLst>
          </p:cNvPr>
          <p:cNvSpPr/>
          <p:nvPr/>
        </p:nvSpPr>
        <p:spPr>
          <a:xfrm>
            <a:off x="475622" y="5422392"/>
            <a:ext cx="50292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EEE475BE-4B2B-CD7E-2310-CDF2C93AFFCA}"/>
              </a:ext>
            </a:extLst>
          </p:cNvPr>
          <p:cNvSpPr/>
          <p:nvPr/>
        </p:nvSpPr>
        <p:spPr>
          <a:xfrm>
            <a:off x="475622" y="54223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02090DC1-3D08-A712-8953-39EF3D679EBA}"/>
              </a:ext>
            </a:extLst>
          </p:cNvPr>
          <p:cNvSpPr/>
          <p:nvPr/>
        </p:nvSpPr>
        <p:spPr>
          <a:xfrm>
            <a:off x="1069982" y="54955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100" dirty="0"/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96014B22-D76F-90F9-72D9-ED4C43E81970}"/>
              </a:ext>
            </a:extLst>
          </p:cNvPr>
          <p:cNvSpPr/>
          <p:nvPr/>
        </p:nvSpPr>
        <p:spPr>
          <a:xfrm>
            <a:off x="1069982" y="58064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AI modules, TCO Card &amp; system design</a:t>
            </a:r>
            <a:endParaRPr lang="en-US" sz="900" dirty="0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862E961F-E8EE-B7B6-6002-63E64B430270}"/>
              </a:ext>
            </a:extLst>
          </p:cNvPr>
          <p:cNvSpPr/>
          <p:nvPr/>
        </p:nvSpPr>
        <p:spPr>
          <a:xfrm>
            <a:off x="4864742" y="2679192"/>
            <a:ext cx="4023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0F8FE651-883C-6DBB-3EB2-6AD5616DB52C}"/>
              </a:ext>
            </a:extLst>
          </p:cNvPr>
          <p:cNvSpPr/>
          <p:nvPr/>
        </p:nvSpPr>
        <p:spPr>
          <a:xfrm>
            <a:off x="4864742" y="2679192"/>
            <a:ext cx="50292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E8FB8622-836D-1F7F-3857-C28D32995CD0}"/>
              </a:ext>
            </a:extLst>
          </p:cNvPr>
          <p:cNvSpPr/>
          <p:nvPr/>
        </p:nvSpPr>
        <p:spPr>
          <a:xfrm>
            <a:off x="4864742" y="26791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2AFA9B4E-C771-2918-DC03-101D47290818}"/>
              </a:ext>
            </a:extLst>
          </p:cNvPr>
          <p:cNvSpPr/>
          <p:nvPr/>
        </p:nvSpPr>
        <p:spPr>
          <a:xfrm>
            <a:off x="5459102" y="27523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9E0EF3EB-D45B-F372-F15E-1C3CDB116D56}"/>
              </a:ext>
            </a:extLst>
          </p:cNvPr>
          <p:cNvSpPr/>
          <p:nvPr/>
        </p:nvSpPr>
        <p:spPr>
          <a:xfrm>
            <a:off x="5459102" y="30632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development roadmap</a:t>
            </a:r>
            <a:endParaRPr lang="en-US" sz="900" dirty="0"/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B5788969-6481-F20B-A7D7-8393EFA44BC4}"/>
              </a:ext>
            </a:extLst>
          </p:cNvPr>
          <p:cNvSpPr/>
          <p:nvPr/>
        </p:nvSpPr>
        <p:spPr>
          <a:xfrm>
            <a:off x="4864742" y="3593592"/>
            <a:ext cx="4023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2059D913-136D-705A-5323-894F143133FE}"/>
              </a:ext>
            </a:extLst>
          </p:cNvPr>
          <p:cNvSpPr/>
          <p:nvPr/>
        </p:nvSpPr>
        <p:spPr>
          <a:xfrm>
            <a:off x="4864742" y="3593592"/>
            <a:ext cx="50292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7F5556AA-DFB5-2DC7-4D1C-F7E9BD70AECA}"/>
              </a:ext>
            </a:extLst>
          </p:cNvPr>
          <p:cNvSpPr/>
          <p:nvPr/>
        </p:nvSpPr>
        <p:spPr>
          <a:xfrm>
            <a:off x="4864742" y="35935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CB378494-4BD4-0871-2CFF-EAB7A756F667}"/>
              </a:ext>
            </a:extLst>
          </p:cNvPr>
          <p:cNvSpPr/>
          <p:nvPr/>
        </p:nvSpPr>
        <p:spPr>
          <a:xfrm>
            <a:off x="5459102" y="36667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19281FB8-082A-1A0C-3E1F-C38F2C076627}"/>
              </a:ext>
            </a:extLst>
          </p:cNvPr>
          <p:cNvSpPr/>
          <p:nvPr/>
        </p:nvSpPr>
        <p:spPr>
          <a:xfrm>
            <a:off x="5459102" y="39776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architecture, tech stack, API</a:t>
            </a:r>
            <a:endParaRPr lang="en-US" sz="900" dirty="0"/>
          </a:p>
        </p:txBody>
      </p:sp>
      <p:sp>
        <p:nvSpPr>
          <p:cNvPr id="79" name="Shape 40">
            <a:extLst>
              <a:ext uri="{FF2B5EF4-FFF2-40B4-BE49-F238E27FC236}">
                <a16:creationId xmlns:a16="http://schemas.microsoft.com/office/drawing/2014/main" id="{EFA8722F-1179-A4EE-97C9-E70139517FC8}"/>
              </a:ext>
            </a:extLst>
          </p:cNvPr>
          <p:cNvSpPr/>
          <p:nvPr/>
        </p:nvSpPr>
        <p:spPr>
          <a:xfrm>
            <a:off x="4864742" y="4507992"/>
            <a:ext cx="4023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0" name="Shape 41">
            <a:extLst>
              <a:ext uri="{FF2B5EF4-FFF2-40B4-BE49-F238E27FC236}">
                <a16:creationId xmlns:a16="http://schemas.microsoft.com/office/drawing/2014/main" id="{25C5490F-8EDD-FD44-82CA-EDE2FFCB5525}"/>
              </a:ext>
            </a:extLst>
          </p:cNvPr>
          <p:cNvSpPr/>
          <p:nvPr/>
        </p:nvSpPr>
        <p:spPr>
          <a:xfrm>
            <a:off x="4864742" y="4507992"/>
            <a:ext cx="50292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81" name="Text 42">
            <a:extLst>
              <a:ext uri="{FF2B5EF4-FFF2-40B4-BE49-F238E27FC236}">
                <a16:creationId xmlns:a16="http://schemas.microsoft.com/office/drawing/2014/main" id="{C8A1D8D8-8C6F-DC32-D0C7-2CCC52AAEE2F}"/>
              </a:ext>
            </a:extLst>
          </p:cNvPr>
          <p:cNvSpPr/>
          <p:nvPr/>
        </p:nvSpPr>
        <p:spPr>
          <a:xfrm>
            <a:off x="4864742" y="45079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BB2C2CDE-9A2D-1074-4DA0-8A37911F10A1}"/>
              </a:ext>
            </a:extLst>
          </p:cNvPr>
          <p:cNvSpPr/>
          <p:nvPr/>
        </p:nvSpPr>
        <p:spPr>
          <a:xfrm>
            <a:off x="5459102" y="45811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Experience</a:t>
            </a:r>
            <a:endParaRPr lang="en-US" sz="1100" dirty="0"/>
          </a:p>
        </p:txBody>
      </p:sp>
      <p:sp>
        <p:nvSpPr>
          <p:cNvPr id="83" name="Text 44">
            <a:extLst>
              <a:ext uri="{FF2B5EF4-FFF2-40B4-BE49-F238E27FC236}">
                <a16:creationId xmlns:a16="http://schemas.microsoft.com/office/drawing/2014/main" id="{1C1C77A0-AA0A-D220-81EF-26AC042DC5CB}"/>
              </a:ext>
            </a:extLst>
          </p:cNvPr>
          <p:cNvSpPr/>
          <p:nvPr/>
        </p:nvSpPr>
        <p:spPr>
          <a:xfrm>
            <a:off x="5459102" y="48920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gained, challenges, outcomes</a:t>
            </a:r>
            <a:endParaRPr lang="en-US" sz="900" dirty="0"/>
          </a:p>
        </p:txBody>
      </p:sp>
      <p:sp>
        <p:nvSpPr>
          <p:cNvPr id="84" name="Shape 45">
            <a:extLst>
              <a:ext uri="{FF2B5EF4-FFF2-40B4-BE49-F238E27FC236}">
                <a16:creationId xmlns:a16="http://schemas.microsoft.com/office/drawing/2014/main" id="{873C0706-4821-3069-0CA4-3B25A5DBED28}"/>
              </a:ext>
            </a:extLst>
          </p:cNvPr>
          <p:cNvSpPr/>
          <p:nvPr/>
        </p:nvSpPr>
        <p:spPr>
          <a:xfrm>
            <a:off x="4864742" y="5422392"/>
            <a:ext cx="4023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5" name="Shape 46">
            <a:extLst>
              <a:ext uri="{FF2B5EF4-FFF2-40B4-BE49-F238E27FC236}">
                <a16:creationId xmlns:a16="http://schemas.microsoft.com/office/drawing/2014/main" id="{9206B29F-E21F-642A-7C59-3CB1B5ED0E75}"/>
              </a:ext>
            </a:extLst>
          </p:cNvPr>
          <p:cNvSpPr/>
          <p:nvPr/>
        </p:nvSpPr>
        <p:spPr>
          <a:xfrm>
            <a:off x="4864742" y="5422392"/>
            <a:ext cx="50292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86" name="Text 47">
            <a:extLst>
              <a:ext uri="{FF2B5EF4-FFF2-40B4-BE49-F238E27FC236}">
                <a16:creationId xmlns:a16="http://schemas.microsoft.com/office/drawing/2014/main" id="{539586A9-8AF3-0618-59B0-AE6C4B4B3FCB}"/>
              </a:ext>
            </a:extLst>
          </p:cNvPr>
          <p:cNvSpPr/>
          <p:nvPr/>
        </p:nvSpPr>
        <p:spPr>
          <a:xfrm>
            <a:off x="4864742" y="54223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87" name="Text 48">
            <a:extLst>
              <a:ext uri="{FF2B5EF4-FFF2-40B4-BE49-F238E27FC236}">
                <a16:creationId xmlns:a16="http://schemas.microsoft.com/office/drawing/2014/main" id="{EA9194D9-72E5-7997-C717-DC36AA2A52C3}"/>
              </a:ext>
            </a:extLst>
          </p:cNvPr>
          <p:cNvSpPr/>
          <p:nvPr/>
        </p:nvSpPr>
        <p:spPr>
          <a:xfrm>
            <a:off x="5459102" y="54955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and Future Plan</a:t>
            </a:r>
            <a:endParaRPr lang="en-US" sz="1100" dirty="0"/>
          </a:p>
        </p:txBody>
      </p:sp>
      <p:sp>
        <p:nvSpPr>
          <p:cNvPr id="88" name="Text 49">
            <a:extLst>
              <a:ext uri="{FF2B5EF4-FFF2-40B4-BE49-F238E27FC236}">
                <a16:creationId xmlns:a16="http://schemas.microsoft.com/office/drawing/2014/main" id="{CF13CE76-7278-CBD4-A554-A7946369BDDF}"/>
              </a:ext>
            </a:extLst>
          </p:cNvPr>
          <p:cNvSpPr/>
          <p:nvPr/>
        </p:nvSpPr>
        <p:spPr>
          <a:xfrm>
            <a:off x="5459102" y="58064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vision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14826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3</a:t>
            </a:fld>
            <a:endParaRPr lang="en-US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A192C2D2-1777-AE5B-2B1C-8E2E80074609}"/>
              </a:ext>
            </a:extLst>
          </p:cNvPr>
          <p:cNvSpPr/>
          <p:nvPr/>
        </p:nvSpPr>
        <p:spPr>
          <a:xfrm>
            <a:off x="274320" y="2148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Problem Definition</a:t>
            </a:r>
            <a:endParaRPr lang="en-US" sz="15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B5FAD4CE-7BEF-A946-5DE0-1D759222D369}"/>
              </a:ext>
            </a:extLst>
          </p:cNvPr>
          <p:cNvSpPr/>
          <p:nvPr/>
        </p:nvSpPr>
        <p:spPr>
          <a:xfrm>
            <a:off x="274320" y="2514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are flying blind in India's used car market.</a:t>
            </a:r>
            <a:endParaRPr lang="en-US" sz="120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3208CE93-0C30-08DE-8475-AE444FBE6DBA}"/>
              </a:ext>
            </a:extLst>
          </p:cNvPr>
          <p:cNvSpPr/>
          <p:nvPr/>
        </p:nvSpPr>
        <p:spPr>
          <a:xfrm>
            <a:off x="182880" y="2880360"/>
            <a:ext cx="8595360" cy="868680"/>
          </a:xfrm>
          <a:prstGeom prst="rect">
            <a:avLst/>
          </a:prstGeom>
          <a:solidFill>
            <a:srgbClr val="FEF2F2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779184C9-7B2F-BDFB-37A0-6A2DE9F054FB}"/>
              </a:ext>
            </a:extLst>
          </p:cNvPr>
          <p:cNvSpPr/>
          <p:nvPr/>
        </p:nvSpPr>
        <p:spPr>
          <a:xfrm>
            <a:off x="182880" y="2880360"/>
            <a:ext cx="502920" cy="8686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52169E8E-9D21-A68F-8EBA-4C04869DAD6D}"/>
              </a:ext>
            </a:extLst>
          </p:cNvPr>
          <p:cNvSpPr/>
          <p:nvPr/>
        </p:nvSpPr>
        <p:spPr>
          <a:xfrm>
            <a:off x="182880" y="28803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8041795C-4C42-E742-44DE-2973DCD7F1D7}"/>
              </a:ext>
            </a:extLst>
          </p:cNvPr>
          <p:cNvSpPr/>
          <p:nvPr/>
        </p:nvSpPr>
        <p:spPr>
          <a:xfrm>
            <a:off x="822960" y="29352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price fair?</a:t>
            </a:r>
            <a:endParaRPr lang="en-US" sz="11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193DF4F5-7C65-C407-3C83-440C99D27DCA}"/>
              </a:ext>
            </a:extLst>
          </p:cNvPr>
          <p:cNvSpPr/>
          <p:nvPr/>
        </p:nvSpPr>
        <p:spPr>
          <a:xfrm>
            <a:off x="822960" y="322783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Indian platform analytically verifies if a listed price reflects true market value. Buyers overpay by ₹20,000–₹60,000 on average. OLX, CarDekho, and Cars24 show listed prices — not verified market prices.</a:t>
            </a:r>
            <a:endParaRPr lang="en-US" sz="900" dirty="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2612DA33-0257-0AF0-C787-450A352510F9}"/>
              </a:ext>
            </a:extLst>
          </p:cNvPr>
          <p:cNvSpPr/>
          <p:nvPr/>
        </p:nvSpPr>
        <p:spPr>
          <a:xfrm>
            <a:off x="182880" y="3886200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9FF8A349-934B-2123-8EFD-301ABC51558A}"/>
              </a:ext>
            </a:extLst>
          </p:cNvPr>
          <p:cNvSpPr/>
          <p:nvPr/>
        </p:nvSpPr>
        <p:spPr>
          <a:xfrm>
            <a:off x="182880" y="3886200"/>
            <a:ext cx="502920" cy="8686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DD796A03-C7FA-CF51-97EA-F4F2A60C39BE}"/>
              </a:ext>
            </a:extLst>
          </p:cNvPr>
          <p:cNvSpPr/>
          <p:nvPr/>
        </p:nvSpPr>
        <p:spPr>
          <a:xfrm>
            <a:off x="182880" y="388620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EA37A1E8-E83E-98AB-DF36-CBF137513796}"/>
              </a:ext>
            </a:extLst>
          </p:cNvPr>
          <p:cNvSpPr/>
          <p:nvPr/>
        </p:nvSpPr>
        <p:spPr>
          <a:xfrm>
            <a:off x="822960" y="39410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it cost to maintain?</a:t>
            </a:r>
            <a:endParaRPr lang="en-US" sz="1100" dirty="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A55D82F2-F432-79DC-025D-07FBAA859256}"/>
              </a:ext>
            </a:extLst>
          </p:cNvPr>
          <p:cNvSpPr/>
          <p:nvPr/>
        </p:nvSpPr>
        <p:spPr>
          <a:xfrm>
            <a:off x="822960" y="423367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costs range from ₹28,000 to ₹95,000 over 2 years — a 230%+ variance. This hidden cost is invisible on every platform. Brand, fuel type, age &amp; mileage all dramatically affect ownership cost.</a:t>
            </a:r>
            <a:endParaRPr lang="en-US" sz="900" dirty="0"/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92148EC6-67CE-7F7A-29E1-E7A40340C3AD}"/>
              </a:ext>
            </a:extLst>
          </p:cNvPr>
          <p:cNvSpPr/>
          <p:nvPr/>
        </p:nvSpPr>
        <p:spPr>
          <a:xfrm>
            <a:off x="182880" y="4892040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C497B95F-0F8A-55F8-BF7D-A4E02679CC83}"/>
              </a:ext>
            </a:extLst>
          </p:cNvPr>
          <p:cNvSpPr/>
          <p:nvPr/>
        </p:nvSpPr>
        <p:spPr>
          <a:xfrm>
            <a:off x="182880" y="4892040"/>
            <a:ext cx="502920" cy="8686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B90F8813-2ACB-CC57-22D2-DD3F10AB762C}"/>
              </a:ext>
            </a:extLst>
          </p:cNvPr>
          <p:cNvSpPr/>
          <p:nvPr/>
        </p:nvSpPr>
        <p:spPr>
          <a:xfrm>
            <a:off x="182880" y="48920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CA19DD8F-DBAC-4797-DF68-FC0A94DEAE0E}"/>
              </a:ext>
            </a:extLst>
          </p:cNvPr>
          <p:cNvSpPr/>
          <p:nvPr/>
        </p:nvSpPr>
        <p:spPr>
          <a:xfrm>
            <a:off x="822960" y="49469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it be worth later?</a:t>
            </a:r>
            <a:endParaRPr lang="en-US" sz="1100" dirty="0"/>
          </a:p>
        </p:txBody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034AFA1E-AC69-51EB-11A4-23CFA9787C59}"/>
              </a:ext>
            </a:extLst>
          </p:cNvPr>
          <p:cNvSpPr/>
          <p:nvPr/>
        </p:nvSpPr>
        <p:spPr>
          <a:xfrm>
            <a:off x="822960" y="523951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₹4L car may retain ₹3.2L or only ₹2.1L after 2 years. No platform shows future resale value or depreciation trajectory. Diesel vehicles now depreciate faster post BS-VI norms.</a:t>
            </a:r>
            <a:endParaRPr lang="en-US" sz="900" dirty="0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F52F0494-3798-459C-83FF-22A0B5E1BD9E}"/>
              </a:ext>
            </a:extLst>
          </p:cNvPr>
          <p:cNvSpPr/>
          <p:nvPr/>
        </p:nvSpPr>
        <p:spPr>
          <a:xfrm>
            <a:off x="274320" y="5943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unknowns constitute the Purchase Decision Triangle — and no Indian platform addresses any of them.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894840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dirty="0"/>
            </a:br>
            <a:r>
              <a:rPr lang="en-IN" dirty="0"/>
              <a:t>About the Organization</a:t>
            </a:r>
            <a:br>
              <a:rPr lang="en-IN" dirty="0"/>
            </a:b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4</a:t>
            </a:fld>
            <a:endParaRPr lang="en-US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2360243F-8B07-C78A-E11F-D16A9B4B7189}"/>
              </a:ext>
            </a:extLst>
          </p:cNvPr>
          <p:cNvSpPr/>
          <p:nvPr/>
        </p:nvSpPr>
        <p:spPr>
          <a:xfrm>
            <a:off x="383010" y="2202269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27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CarIQ</a:t>
            </a:r>
            <a:endParaRPr lang="en-US" sz="3200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A4A2AE3F-D250-AC3A-E8A4-9BE87FADE3ED}"/>
              </a:ext>
            </a:extLst>
          </p:cNvPr>
          <p:cNvSpPr/>
          <p:nvPr/>
        </p:nvSpPr>
        <p:spPr>
          <a:xfrm>
            <a:off x="470432" y="2604085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Used Car Decisions. Engineered for India.</a:t>
            </a:r>
            <a:endParaRPr lang="en-US" sz="1000" dirty="0"/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9D5D0699-6E9A-8FEE-CC83-65E1B3494E3A}"/>
              </a:ext>
            </a:extLst>
          </p:cNvPr>
          <p:cNvSpPr/>
          <p:nvPr/>
        </p:nvSpPr>
        <p:spPr>
          <a:xfrm>
            <a:off x="474450" y="2908530"/>
            <a:ext cx="3931920" cy="2743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15D18E4D-FEC5-4777-CC3E-3F9CF41E1E6E}"/>
              </a:ext>
            </a:extLst>
          </p:cNvPr>
          <p:cNvSpPr/>
          <p:nvPr/>
        </p:nvSpPr>
        <p:spPr>
          <a:xfrm>
            <a:off x="458876" y="3044873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CarIQ is an AI-powered used car marketplace platform built specifically for the Indian market. It transforms a conventional listing platform into a decision intelligence engine — giving buyers three answers they cannot get anywhere else, simultaneously.</a:t>
            </a:r>
            <a:endParaRPr lang="en-US" sz="1000" dirty="0"/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809CDE57-D679-8AFE-89FD-B62F1AF570C0}"/>
              </a:ext>
            </a:extLst>
          </p:cNvPr>
          <p:cNvSpPr/>
          <p:nvPr/>
        </p:nvSpPr>
        <p:spPr>
          <a:xfrm>
            <a:off x="476811" y="3908516"/>
            <a:ext cx="914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27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ABCC8E9D-EA47-FBCC-B3BC-7C9A26125D04}"/>
              </a:ext>
            </a:extLst>
          </p:cNvPr>
          <p:cNvSpPr/>
          <p:nvPr/>
        </p:nvSpPr>
        <p:spPr>
          <a:xfrm>
            <a:off x="415047" y="3575506"/>
            <a:ext cx="1005840" cy="78481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7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₹36B</a:t>
            </a:r>
            <a:endParaRPr lang="en-US" sz="22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6916F9D5-B900-4EA3-CE26-313A1F777ED8}"/>
              </a:ext>
            </a:extLst>
          </p:cNvPr>
          <p:cNvSpPr/>
          <p:nvPr/>
        </p:nvSpPr>
        <p:spPr>
          <a:xfrm>
            <a:off x="476811" y="433599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4310EFC4-1041-334F-EEF8-60186D8927CC}"/>
              </a:ext>
            </a:extLst>
          </p:cNvPr>
          <p:cNvSpPr/>
          <p:nvPr/>
        </p:nvSpPr>
        <p:spPr>
          <a:xfrm>
            <a:off x="1482651" y="3908516"/>
            <a:ext cx="914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1B027912-95CF-8D1C-FD0E-2E02183C65C4}"/>
              </a:ext>
            </a:extLst>
          </p:cNvPr>
          <p:cNvSpPr/>
          <p:nvPr/>
        </p:nvSpPr>
        <p:spPr>
          <a:xfrm>
            <a:off x="1315345" y="3565616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₹101B</a:t>
            </a:r>
            <a:endParaRPr lang="en-US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232F6032-C49F-EC01-7EB5-83780554FC11}"/>
              </a:ext>
            </a:extLst>
          </p:cNvPr>
          <p:cNvSpPr/>
          <p:nvPr/>
        </p:nvSpPr>
        <p:spPr>
          <a:xfrm>
            <a:off x="1482651" y="433599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</a:t>
            </a:r>
            <a:endParaRPr lang="en-US" sz="900" dirty="0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D07C5CDE-AB25-CBE1-18C5-72050765F0BE}"/>
              </a:ext>
            </a:extLst>
          </p:cNvPr>
          <p:cNvSpPr/>
          <p:nvPr/>
        </p:nvSpPr>
        <p:spPr>
          <a:xfrm>
            <a:off x="2488491" y="3908516"/>
            <a:ext cx="914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27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F7CD4E8A-16C1-3433-6C35-945460BFD555}"/>
              </a:ext>
            </a:extLst>
          </p:cNvPr>
          <p:cNvSpPr/>
          <p:nvPr/>
        </p:nvSpPr>
        <p:spPr>
          <a:xfrm>
            <a:off x="2513209" y="3505410"/>
            <a:ext cx="898826" cy="806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C027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dirty="0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CFFE1F21-8584-AD88-654E-2CC82D97D577}"/>
              </a:ext>
            </a:extLst>
          </p:cNvPr>
          <p:cNvSpPr/>
          <p:nvPr/>
        </p:nvSpPr>
        <p:spPr>
          <a:xfrm>
            <a:off x="2488491" y="433599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2024–2033</a:t>
            </a:r>
            <a:endParaRPr lang="en-US" sz="900" dirty="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374E1B72-B5DA-BB6E-B09A-7C9A81BA9BE7}"/>
              </a:ext>
            </a:extLst>
          </p:cNvPr>
          <p:cNvSpPr/>
          <p:nvPr/>
        </p:nvSpPr>
        <p:spPr>
          <a:xfrm>
            <a:off x="3494331" y="3908516"/>
            <a:ext cx="914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DD02DA10-BECB-A80A-6C17-945450C9ACDC}"/>
              </a:ext>
            </a:extLst>
          </p:cNvPr>
          <p:cNvSpPr/>
          <p:nvPr/>
        </p:nvSpPr>
        <p:spPr>
          <a:xfrm>
            <a:off x="3133143" y="3254110"/>
            <a:ext cx="1664208" cy="11062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5.41M</a:t>
            </a:r>
            <a:endParaRPr lang="en-US" sz="2000" dirty="0"/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3D5A09E5-DBA6-06E1-64C4-D5528B7ADCD1}"/>
              </a:ext>
            </a:extLst>
          </p:cNvPr>
          <p:cNvSpPr/>
          <p:nvPr/>
        </p:nvSpPr>
        <p:spPr>
          <a:xfrm>
            <a:off x="3494331" y="433599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2024</a:t>
            </a:r>
            <a:endParaRPr lang="en-US" sz="900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2ED50DA5-4ED4-0A66-EDDC-82123893DE82}"/>
              </a:ext>
            </a:extLst>
          </p:cNvPr>
          <p:cNvSpPr/>
          <p:nvPr/>
        </p:nvSpPr>
        <p:spPr>
          <a:xfrm>
            <a:off x="476811" y="47589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IMARC Group 2024 | Mordor Intelligence 2026 | Verified Market Research 2025</a:t>
            </a:r>
            <a:endParaRPr lang="en-US" sz="700" dirty="0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5E082591-5963-7698-4B38-714F8391DECF}"/>
              </a:ext>
            </a:extLst>
          </p:cNvPr>
          <p:cNvSpPr/>
          <p:nvPr/>
        </p:nvSpPr>
        <p:spPr>
          <a:xfrm>
            <a:off x="476811" y="50057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Differentiators</a:t>
            </a:r>
            <a:endParaRPr lang="en-US" sz="1100" dirty="0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240EBEFD-3216-BAD7-A994-385E62D6DF0A}"/>
              </a:ext>
            </a:extLst>
          </p:cNvPr>
          <p:cNvSpPr/>
          <p:nvPr/>
        </p:nvSpPr>
        <p:spPr>
          <a:xfrm>
            <a:off x="425380" y="52618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Indian platform integrating 5 AI modules per listing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Card: Price + Maintenance + Depreciation in one view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ML features (regulatory risk, brand reliability class)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with dual-threshold anomaly scoring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condition detection — no GPU required</a:t>
            </a:r>
            <a:endParaRPr lang="en-US" sz="900" dirty="0"/>
          </a:p>
        </p:txBody>
      </p:sp>
      <p:sp>
        <p:nvSpPr>
          <p:cNvPr id="24" name="Text 30">
            <a:extLst>
              <a:ext uri="{FF2B5EF4-FFF2-40B4-BE49-F238E27FC236}">
                <a16:creationId xmlns:a16="http://schemas.microsoft.com/office/drawing/2014/main" id="{1DA0AAEB-9938-12BF-C99C-1BE0AF78E1A7}"/>
              </a:ext>
            </a:extLst>
          </p:cNvPr>
          <p:cNvSpPr/>
          <p:nvPr/>
        </p:nvSpPr>
        <p:spPr>
          <a:xfrm>
            <a:off x="4865931" y="21985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Integrated AI Modules</a:t>
            </a:r>
            <a:endParaRPr lang="en-US" sz="1100" dirty="0"/>
          </a:p>
        </p:txBody>
      </p:sp>
      <p:sp>
        <p:nvSpPr>
          <p:cNvPr id="25" name="Shape 31">
            <a:extLst>
              <a:ext uri="{FF2B5EF4-FFF2-40B4-BE49-F238E27FC236}">
                <a16:creationId xmlns:a16="http://schemas.microsoft.com/office/drawing/2014/main" id="{DD3C51F8-F2E8-4A15-2619-47D3E2C8B1C4}"/>
              </a:ext>
            </a:extLst>
          </p:cNvPr>
          <p:cNvSpPr/>
          <p:nvPr/>
        </p:nvSpPr>
        <p:spPr>
          <a:xfrm>
            <a:off x="4911651" y="253691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32">
            <a:extLst>
              <a:ext uri="{FF2B5EF4-FFF2-40B4-BE49-F238E27FC236}">
                <a16:creationId xmlns:a16="http://schemas.microsoft.com/office/drawing/2014/main" id="{74724DE7-0D9F-94E7-0F2E-650E2CBD964C}"/>
              </a:ext>
            </a:extLst>
          </p:cNvPr>
          <p:cNvSpPr/>
          <p:nvPr/>
        </p:nvSpPr>
        <p:spPr>
          <a:xfrm>
            <a:off x="4911651" y="2536916"/>
            <a:ext cx="36576" cy="5943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7" name="Text 33">
            <a:extLst>
              <a:ext uri="{FF2B5EF4-FFF2-40B4-BE49-F238E27FC236}">
                <a16:creationId xmlns:a16="http://schemas.microsoft.com/office/drawing/2014/main" id="{75385ED2-E041-8FCD-19D6-BBAA74D150CE}"/>
              </a:ext>
            </a:extLst>
          </p:cNvPr>
          <p:cNvSpPr/>
          <p:nvPr/>
        </p:nvSpPr>
        <p:spPr>
          <a:xfrm>
            <a:off x="4975659" y="25643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27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28" name="Text 34">
            <a:extLst>
              <a:ext uri="{FF2B5EF4-FFF2-40B4-BE49-F238E27FC236}">
                <a16:creationId xmlns:a16="http://schemas.microsoft.com/office/drawing/2014/main" id="{755B987D-5F8E-A912-C7F1-FFE386046BEF}"/>
              </a:ext>
            </a:extLst>
          </p:cNvPr>
          <p:cNvSpPr/>
          <p:nvPr/>
        </p:nvSpPr>
        <p:spPr>
          <a:xfrm>
            <a:off x="5304843" y="25826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1050" dirty="0"/>
          </a:p>
        </p:txBody>
      </p:sp>
      <p:sp>
        <p:nvSpPr>
          <p:cNvPr id="29" name="Text 35">
            <a:extLst>
              <a:ext uri="{FF2B5EF4-FFF2-40B4-BE49-F238E27FC236}">
                <a16:creationId xmlns:a16="http://schemas.microsoft.com/office/drawing/2014/main" id="{935A8CE2-08C6-72B1-4430-B71B7435F213}"/>
              </a:ext>
            </a:extLst>
          </p:cNvPr>
          <p:cNvSpPr/>
          <p:nvPr/>
        </p:nvSpPr>
        <p:spPr>
          <a:xfrm>
            <a:off x="5304843" y="28478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R²=0.94 · MAE=₹70,583</a:t>
            </a:r>
            <a:endParaRPr lang="en-US" sz="850" dirty="0"/>
          </a:p>
        </p:txBody>
      </p:sp>
      <p:sp>
        <p:nvSpPr>
          <p:cNvPr id="30" name="Shape 36">
            <a:extLst>
              <a:ext uri="{FF2B5EF4-FFF2-40B4-BE49-F238E27FC236}">
                <a16:creationId xmlns:a16="http://schemas.microsoft.com/office/drawing/2014/main" id="{6F0C4E9F-4983-2215-7DBA-9050569B89CB}"/>
              </a:ext>
            </a:extLst>
          </p:cNvPr>
          <p:cNvSpPr/>
          <p:nvPr/>
        </p:nvSpPr>
        <p:spPr>
          <a:xfrm>
            <a:off x="4911651" y="322271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37">
            <a:extLst>
              <a:ext uri="{FF2B5EF4-FFF2-40B4-BE49-F238E27FC236}">
                <a16:creationId xmlns:a16="http://schemas.microsoft.com/office/drawing/2014/main" id="{BEF64178-FB06-6810-4D3A-680151E93F74}"/>
              </a:ext>
            </a:extLst>
          </p:cNvPr>
          <p:cNvSpPr/>
          <p:nvPr/>
        </p:nvSpPr>
        <p:spPr>
          <a:xfrm>
            <a:off x="4911651" y="3222716"/>
            <a:ext cx="36576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8">
            <a:extLst>
              <a:ext uri="{FF2B5EF4-FFF2-40B4-BE49-F238E27FC236}">
                <a16:creationId xmlns:a16="http://schemas.microsoft.com/office/drawing/2014/main" id="{B12881B3-AC0A-EEC8-8304-E8CDB3ED9F9D}"/>
              </a:ext>
            </a:extLst>
          </p:cNvPr>
          <p:cNvSpPr/>
          <p:nvPr/>
        </p:nvSpPr>
        <p:spPr>
          <a:xfrm>
            <a:off x="4975659" y="32501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33" name="Text 39">
            <a:extLst>
              <a:ext uri="{FF2B5EF4-FFF2-40B4-BE49-F238E27FC236}">
                <a16:creationId xmlns:a16="http://schemas.microsoft.com/office/drawing/2014/main" id="{0358134E-ABA5-73B4-6907-3769A33F03AD}"/>
              </a:ext>
            </a:extLst>
          </p:cNvPr>
          <p:cNvSpPr/>
          <p:nvPr/>
        </p:nvSpPr>
        <p:spPr>
          <a:xfrm>
            <a:off x="5304843" y="32684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Forecasting</a:t>
            </a:r>
            <a:endParaRPr lang="en-US" sz="1050" dirty="0"/>
          </a:p>
        </p:txBody>
      </p:sp>
      <p:sp>
        <p:nvSpPr>
          <p:cNvPr id="34" name="Text 40">
            <a:extLst>
              <a:ext uri="{FF2B5EF4-FFF2-40B4-BE49-F238E27FC236}">
                <a16:creationId xmlns:a16="http://schemas.microsoft.com/office/drawing/2014/main" id="{7AFEC12F-0D46-8B8E-2253-A6F01F47EA4A}"/>
              </a:ext>
            </a:extLst>
          </p:cNvPr>
          <p:cNvSpPr/>
          <p:nvPr/>
        </p:nvSpPr>
        <p:spPr>
          <a:xfrm>
            <a:off x="5304843" y="35336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Hist. Gradient Boosting · R²=0.977 · MAE=₹6,997</a:t>
            </a:r>
            <a:endParaRPr lang="en-US" sz="850" dirty="0"/>
          </a:p>
        </p:txBody>
      </p:sp>
      <p:sp>
        <p:nvSpPr>
          <p:cNvPr id="35" name="Shape 41">
            <a:extLst>
              <a:ext uri="{FF2B5EF4-FFF2-40B4-BE49-F238E27FC236}">
                <a16:creationId xmlns:a16="http://schemas.microsoft.com/office/drawing/2014/main" id="{0A999C73-4BFD-67F7-305F-F8C523002B12}"/>
              </a:ext>
            </a:extLst>
          </p:cNvPr>
          <p:cNvSpPr/>
          <p:nvPr/>
        </p:nvSpPr>
        <p:spPr>
          <a:xfrm>
            <a:off x="4911651" y="390851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42">
            <a:extLst>
              <a:ext uri="{FF2B5EF4-FFF2-40B4-BE49-F238E27FC236}">
                <a16:creationId xmlns:a16="http://schemas.microsoft.com/office/drawing/2014/main" id="{7229F815-1498-1320-F257-0A734EE14BB2}"/>
              </a:ext>
            </a:extLst>
          </p:cNvPr>
          <p:cNvSpPr/>
          <p:nvPr/>
        </p:nvSpPr>
        <p:spPr>
          <a:xfrm>
            <a:off x="4911651" y="3908516"/>
            <a:ext cx="3657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43">
            <a:extLst>
              <a:ext uri="{FF2B5EF4-FFF2-40B4-BE49-F238E27FC236}">
                <a16:creationId xmlns:a16="http://schemas.microsoft.com/office/drawing/2014/main" id="{7AA7962D-9DE7-B916-E7DE-683770E85D05}"/>
              </a:ext>
            </a:extLst>
          </p:cNvPr>
          <p:cNvSpPr/>
          <p:nvPr/>
        </p:nvSpPr>
        <p:spPr>
          <a:xfrm>
            <a:off x="4975659" y="39359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38" name="Text 44">
            <a:extLst>
              <a:ext uri="{FF2B5EF4-FFF2-40B4-BE49-F238E27FC236}">
                <a16:creationId xmlns:a16="http://schemas.microsoft.com/office/drawing/2014/main" id="{36097ACD-13B9-DB38-FB14-47111A121764}"/>
              </a:ext>
            </a:extLst>
          </p:cNvPr>
          <p:cNvSpPr/>
          <p:nvPr/>
        </p:nvSpPr>
        <p:spPr>
          <a:xfrm>
            <a:off x="5304843" y="39542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Modeling</a:t>
            </a:r>
            <a:endParaRPr lang="en-US" sz="1050" dirty="0"/>
          </a:p>
        </p:txBody>
      </p:sp>
      <p:sp>
        <p:nvSpPr>
          <p:cNvPr id="39" name="Text 45">
            <a:extLst>
              <a:ext uri="{FF2B5EF4-FFF2-40B4-BE49-F238E27FC236}">
                <a16:creationId xmlns:a16="http://schemas.microsoft.com/office/drawing/2014/main" id="{DF8F6441-E6D1-75D5-F208-BF0C72DDC8DA}"/>
              </a:ext>
            </a:extLst>
          </p:cNvPr>
          <p:cNvSpPr/>
          <p:nvPr/>
        </p:nvSpPr>
        <p:spPr>
          <a:xfrm>
            <a:off x="5304843" y="42194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R²=0.996 · Avg 20.2% loss/2yr</a:t>
            </a:r>
            <a:endParaRPr lang="en-US" sz="850" dirty="0"/>
          </a:p>
        </p:txBody>
      </p:sp>
      <p:sp>
        <p:nvSpPr>
          <p:cNvPr id="40" name="Shape 46">
            <a:extLst>
              <a:ext uri="{FF2B5EF4-FFF2-40B4-BE49-F238E27FC236}">
                <a16:creationId xmlns:a16="http://schemas.microsoft.com/office/drawing/2014/main" id="{FC67FE9C-C4D4-F089-D14B-4A805F8E3F58}"/>
              </a:ext>
            </a:extLst>
          </p:cNvPr>
          <p:cNvSpPr/>
          <p:nvPr/>
        </p:nvSpPr>
        <p:spPr>
          <a:xfrm>
            <a:off x="4911651" y="459431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47">
            <a:extLst>
              <a:ext uri="{FF2B5EF4-FFF2-40B4-BE49-F238E27FC236}">
                <a16:creationId xmlns:a16="http://schemas.microsoft.com/office/drawing/2014/main" id="{4CBE1AEC-3C99-33EE-9F0C-E96326104066}"/>
              </a:ext>
            </a:extLst>
          </p:cNvPr>
          <p:cNvSpPr/>
          <p:nvPr/>
        </p:nvSpPr>
        <p:spPr>
          <a:xfrm>
            <a:off x="4911651" y="4594316"/>
            <a:ext cx="36576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8">
            <a:extLst>
              <a:ext uri="{FF2B5EF4-FFF2-40B4-BE49-F238E27FC236}">
                <a16:creationId xmlns:a16="http://schemas.microsoft.com/office/drawing/2014/main" id="{3391E607-75EA-32A0-33C8-7C7E146CC9B7}"/>
              </a:ext>
            </a:extLst>
          </p:cNvPr>
          <p:cNvSpPr/>
          <p:nvPr/>
        </p:nvSpPr>
        <p:spPr>
          <a:xfrm>
            <a:off x="4975659" y="46217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43" name="Text 49">
            <a:extLst>
              <a:ext uri="{FF2B5EF4-FFF2-40B4-BE49-F238E27FC236}">
                <a16:creationId xmlns:a16="http://schemas.microsoft.com/office/drawing/2014/main" id="{9E6E10C4-B58E-1E12-8318-73A934A2B27F}"/>
              </a:ext>
            </a:extLst>
          </p:cNvPr>
          <p:cNvSpPr/>
          <p:nvPr/>
        </p:nvSpPr>
        <p:spPr>
          <a:xfrm>
            <a:off x="5304843" y="46400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Detection</a:t>
            </a:r>
            <a:endParaRPr lang="en-US" sz="1050" dirty="0"/>
          </a:p>
        </p:txBody>
      </p:sp>
      <p:sp>
        <p:nvSpPr>
          <p:cNvPr id="44" name="Text 50">
            <a:extLst>
              <a:ext uri="{FF2B5EF4-FFF2-40B4-BE49-F238E27FC236}">
                <a16:creationId xmlns:a16="http://schemas.microsoft.com/office/drawing/2014/main" id="{02516425-1E6B-6072-E072-64996D1652BF}"/>
              </a:ext>
            </a:extLst>
          </p:cNvPr>
          <p:cNvSpPr/>
          <p:nvPr/>
        </p:nvSpPr>
        <p:spPr>
          <a:xfrm>
            <a:off x="5304843" y="49052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Pipeline · &lt;90ms · Score 0–100</a:t>
            </a:r>
            <a:endParaRPr lang="en-US" sz="850" dirty="0"/>
          </a:p>
        </p:txBody>
      </p:sp>
      <p:sp>
        <p:nvSpPr>
          <p:cNvPr id="45" name="Shape 51">
            <a:extLst>
              <a:ext uri="{FF2B5EF4-FFF2-40B4-BE49-F238E27FC236}">
                <a16:creationId xmlns:a16="http://schemas.microsoft.com/office/drawing/2014/main" id="{EE86A428-0298-0C68-F37A-EF57D319B2F1}"/>
              </a:ext>
            </a:extLst>
          </p:cNvPr>
          <p:cNvSpPr/>
          <p:nvPr/>
        </p:nvSpPr>
        <p:spPr>
          <a:xfrm>
            <a:off x="4911651" y="528011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52">
            <a:extLst>
              <a:ext uri="{FF2B5EF4-FFF2-40B4-BE49-F238E27FC236}">
                <a16:creationId xmlns:a16="http://schemas.microsoft.com/office/drawing/2014/main" id="{883F5079-8F7B-147C-43C5-B2534822CDA4}"/>
              </a:ext>
            </a:extLst>
          </p:cNvPr>
          <p:cNvSpPr/>
          <p:nvPr/>
        </p:nvSpPr>
        <p:spPr>
          <a:xfrm>
            <a:off x="4911651" y="5280116"/>
            <a:ext cx="36576" cy="5943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7" name="Text 53">
            <a:extLst>
              <a:ext uri="{FF2B5EF4-FFF2-40B4-BE49-F238E27FC236}">
                <a16:creationId xmlns:a16="http://schemas.microsoft.com/office/drawing/2014/main" id="{6F5878A8-6A98-1EE3-5776-09CD52D2CF69}"/>
              </a:ext>
            </a:extLst>
          </p:cNvPr>
          <p:cNvSpPr/>
          <p:nvPr/>
        </p:nvSpPr>
        <p:spPr>
          <a:xfrm>
            <a:off x="4975659" y="53075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27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48" name="Text 54">
            <a:extLst>
              <a:ext uri="{FF2B5EF4-FFF2-40B4-BE49-F238E27FC236}">
                <a16:creationId xmlns:a16="http://schemas.microsoft.com/office/drawing/2014/main" id="{DFC35826-6B4D-2BAD-B8FF-B6C0091D2CC6}"/>
              </a:ext>
            </a:extLst>
          </p:cNvPr>
          <p:cNvSpPr/>
          <p:nvPr/>
        </p:nvSpPr>
        <p:spPr>
          <a:xfrm>
            <a:off x="5304843" y="53258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</p:txBody>
      </p:sp>
      <p:sp>
        <p:nvSpPr>
          <p:cNvPr id="49" name="Text 55">
            <a:extLst>
              <a:ext uri="{FF2B5EF4-FFF2-40B4-BE49-F238E27FC236}">
                <a16:creationId xmlns:a16="http://schemas.microsoft.com/office/drawing/2014/main" id="{A6345091-5342-ECD0-6DAD-56FECB7E930E}"/>
              </a:ext>
            </a:extLst>
          </p:cNvPr>
          <p:cNvSpPr/>
          <p:nvPr/>
        </p:nvSpPr>
        <p:spPr>
          <a:xfrm>
            <a:off x="5304843" y="55910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Dual-threshold · TPR=89.4% · FPR=6.2%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1350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About the Department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5</a:t>
            </a:fld>
            <a:endParaRPr lang="en-US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71196070-8B0E-764E-ED42-61EECEA148E0}"/>
              </a:ext>
            </a:extLst>
          </p:cNvPr>
          <p:cNvSpPr/>
          <p:nvPr/>
        </p:nvSpPr>
        <p:spPr>
          <a:xfrm>
            <a:off x="304800" y="2133600"/>
            <a:ext cx="4114800" cy="4023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94462797-62F4-F3BE-D852-5F247B94B04B}"/>
              </a:ext>
            </a:extLst>
          </p:cNvPr>
          <p:cNvSpPr/>
          <p:nvPr/>
        </p:nvSpPr>
        <p:spPr>
          <a:xfrm>
            <a:off x="304800" y="2133600"/>
            <a:ext cx="4114800" cy="4572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4AA036EF-4BB0-04DA-56B1-EF1F3B9B4A89}"/>
              </a:ext>
            </a:extLst>
          </p:cNvPr>
          <p:cNvSpPr/>
          <p:nvPr/>
        </p:nvSpPr>
        <p:spPr>
          <a:xfrm>
            <a:off x="350520" y="2133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</a:t>
            </a:r>
            <a:endParaRPr lang="en-US" sz="130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0EB27412-42DC-1D08-0243-9FF56BD4AF3A}"/>
              </a:ext>
            </a:extLst>
          </p:cNvPr>
          <p:cNvSpPr/>
          <p:nvPr/>
        </p:nvSpPr>
        <p:spPr>
          <a:xfrm>
            <a:off x="396240" y="2682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85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4B0FFA39-3809-BE9D-EC8D-775182E47F76}"/>
              </a:ext>
            </a:extLst>
          </p:cNvPr>
          <p:cNvSpPr/>
          <p:nvPr/>
        </p:nvSpPr>
        <p:spPr>
          <a:xfrm>
            <a:off x="1694688" y="2682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SVKM's NMIMS — Mukesh Patel School of Technology Management &amp; Engineering (MPSTME), Mumbai</a:t>
            </a:r>
            <a:endParaRPr lang="en-US" sz="850" dirty="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4F715BF8-4748-2095-146B-33DA7A3FB639}"/>
              </a:ext>
            </a:extLst>
          </p:cNvPr>
          <p:cNvSpPr/>
          <p:nvPr/>
        </p:nvSpPr>
        <p:spPr>
          <a:xfrm>
            <a:off x="396240" y="3011424"/>
            <a:ext cx="38404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32A9F48A-28F8-BEE9-5155-8E38387BCF3F}"/>
              </a:ext>
            </a:extLst>
          </p:cNvPr>
          <p:cNvSpPr/>
          <p:nvPr/>
        </p:nvSpPr>
        <p:spPr>
          <a:xfrm>
            <a:off x="396240" y="3121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850" dirty="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4D4CE2C1-C00F-59BF-57AA-691FCA2479AF}"/>
              </a:ext>
            </a:extLst>
          </p:cNvPr>
          <p:cNvSpPr/>
          <p:nvPr/>
        </p:nvSpPr>
        <p:spPr>
          <a:xfrm>
            <a:off x="1694688" y="31211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</a:t>
            </a:r>
            <a:endParaRPr lang="en-US" sz="85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23B3FD01-91F2-0EF7-3D4A-9F5460F9D776}"/>
              </a:ext>
            </a:extLst>
          </p:cNvPr>
          <p:cNvSpPr/>
          <p:nvPr/>
        </p:nvSpPr>
        <p:spPr>
          <a:xfrm>
            <a:off x="396240" y="3450336"/>
            <a:ext cx="38404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15CB7732-92C4-BB00-4401-363AAF3B59E7}"/>
              </a:ext>
            </a:extLst>
          </p:cNvPr>
          <p:cNvSpPr/>
          <p:nvPr/>
        </p:nvSpPr>
        <p:spPr>
          <a:xfrm>
            <a:off x="396240" y="35600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</a:t>
            </a:r>
            <a:endParaRPr lang="en-US" sz="850" dirty="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03409F7C-3568-D33A-D2BB-A5013C940BBF}"/>
              </a:ext>
            </a:extLst>
          </p:cNvPr>
          <p:cNvSpPr/>
          <p:nvPr/>
        </p:nvSpPr>
        <p:spPr>
          <a:xfrm>
            <a:off x="1694688" y="356006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Engineering</a:t>
            </a:r>
            <a:endParaRPr lang="en-US" sz="850" dirty="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782D0B2B-09B9-1271-D548-88990546860A}"/>
              </a:ext>
            </a:extLst>
          </p:cNvPr>
          <p:cNvSpPr/>
          <p:nvPr/>
        </p:nvSpPr>
        <p:spPr>
          <a:xfrm>
            <a:off x="396240" y="3889248"/>
            <a:ext cx="38404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94C90437-3A54-F573-AE84-274F675876D3}"/>
              </a:ext>
            </a:extLst>
          </p:cNvPr>
          <p:cNvSpPr/>
          <p:nvPr/>
        </p:nvSpPr>
        <p:spPr>
          <a:xfrm>
            <a:off x="396240" y="399897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</a:t>
            </a:r>
            <a:endParaRPr lang="en-US" sz="850" dirty="0"/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E7DEF251-89C2-C921-C8EF-785A8E2D9C60}"/>
              </a:ext>
            </a:extLst>
          </p:cNvPr>
          <p:cNvSpPr/>
          <p:nvPr/>
        </p:nvSpPr>
        <p:spPr>
          <a:xfrm>
            <a:off x="1694688" y="39989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 globally recognized centre of excellence in computing education, research and innovation</a:t>
            </a:r>
            <a:endParaRPr lang="en-US" sz="850" dirty="0"/>
          </a:p>
        </p:txBody>
      </p:sp>
      <p:sp>
        <p:nvSpPr>
          <p:cNvPr id="21" name="Shape 24">
            <a:extLst>
              <a:ext uri="{FF2B5EF4-FFF2-40B4-BE49-F238E27FC236}">
                <a16:creationId xmlns:a16="http://schemas.microsoft.com/office/drawing/2014/main" id="{E44A38AF-7944-CBD2-794C-DBAB988F04C2}"/>
              </a:ext>
            </a:extLst>
          </p:cNvPr>
          <p:cNvSpPr/>
          <p:nvPr/>
        </p:nvSpPr>
        <p:spPr>
          <a:xfrm>
            <a:off x="396240" y="4328160"/>
            <a:ext cx="38404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6B3D5E13-9DB6-B9F1-7CC6-7A6BD2A2D916}"/>
              </a:ext>
            </a:extLst>
          </p:cNvPr>
          <p:cNvSpPr/>
          <p:nvPr/>
        </p:nvSpPr>
        <p:spPr>
          <a:xfrm>
            <a:off x="396240" y="44378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</a:t>
            </a:r>
            <a:endParaRPr lang="en-US" sz="850" dirty="0"/>
          </a:p>
        </p:txBody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7B5757D5-76EE-025A-1A60-07FBD976E342}"/>
              </a:ext>
            </a:extLst>
          </p:cNvPr>
          <p:cNvSpPr/>
          <p:nvPr/>
        </p:nvSpPr>
        <p:spPr>
          <a:xfrm>
            <a:off x="1694688" y="44378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computing professionals with strong technical and ethical foundations to serve industry and society</a:t>
            </a:r>
            <a:endParaRPr lang="en-US" sz="850" dirty="0"/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EF9EB414-FAAF-DC21-A508-888BC85F36F9}"/>
              </a:ext>
            </a:extLst>
          </p:cNvPr>
          <p:cNvSpPr/>
          <p:nvPr/>
        </p:nvSpPr>
        <p:spPr>
          <a:xfrm>
            <a:off x="396240" y="4767072"/>
            <a:ext cx="38404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2C40BD8A-0A9E-C694-8923-38233432B98E}"/>
              </a:ext>
            </a:extLst>
          </p:cNvPr>
          <p:cNvSpPr/>
          <p:nvPr/>
        </p:nvSpPr>
        <p:spPr>
          <a:xfrm>
            <a:off x="396240" y="48768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 Areas:</a:t>
            </a:r>
            <a:endParaRPr lang="en-US" sz="850" dirty="0"/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7E70C2AE-3708-A7C9-F579-0B2A7F95D1C3}"/>
              </a:ext>
            </a:extLst>
          </p:cNvPr>
          <p:cNvSpPr/>
          <p:nvPr/>
        </p:nvSpPr>
        <p:spPr>
          <a:xfrm>
            <a:off x="1694688" y="4876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AI/ML, Cloud Computing, Cybersecurity, Data Science, Software Engineering, IoT</a:t>
            </a:r>
            <a:endParaRPr lang="en-US" sz="850" dirty="0"/>
          </a:p>
        </p:txBody>
      </p:sp>
      <p:sp>
        <p:nvSpPr>
          <p:cNvPr id="27" name="Shape 30">
            <a:extLst>
              <a:ext uri="{FF2B5EF4-FFF2-40B4-BE49-F238E27FC236}">
                <a16:creationId xmlns:a16="http://schemas.microsoft.com/office/drawing/2014/main" id="{53FC3902-7876-21BA-8096-F3198C7AB97E}"/>
              </a:ext>
            </a:extLst>
          </p:cNvPr>
          <p:cNvSpPr/>
          <p:nvPr/>
        </p:nvSpPr>
        <p:spPr>
          <a:xfrm>
            <a:off x="396240" y="5205984"/>
            <a:ext cx="38404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31">
            <a:extLst>
              <a:ext uri="{FF2B5EF4-FFF2-40B4-BE49-F238E27FC236}">
                <a16:creationId xmlns:a16="http://schemas.microsoft.com/office/drawing/2014/main" id="{D551AE87-77FF-5C19-8C43-8F9F4BA46F4B}"/>
              </a:ext>
            </a:extLst>
          </p:cNvPr>
          <p:cNvSpPr/>
          <p:nvPr/>
        </p:nvSpPr>
        <p:spPr>
          <a:xfrm>
            <a:off x="396240" y="5315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Programme:</a:t>
            </a:r>
            <a:endParaRPr lang="en-US" sz="850" dirty="0"/>
          </a:p>
        </p:txBody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77FC1BB9-6414-D369-89F0-413D8A237A96}"/>
              </a:ext>
            </a:extLst>
          </p:cNvPr>
          <p:cNvSpPr/>
          <p:nvPr/>
        </p:nvSpPr>
        <p:spPr>
          <a:xfrm>
            <a:off x="1694688" y="53157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Internship Programme — real-world project experience under industry and faculty mentorship</a:t>
            </a:r>
            <a:endParaRPr lang="en-US" sz="850" dirty="0"/>
          </a:p>
        </p:txBody>
      </p:sp>
      <p:sp>
        <p:nvSpPr>
          <p:cNvPr id="30" name="Shape 33">
            <a:extLst>
              <a:ext uri="{FF2B5EF4-FFF2-40B4-BE49-F238E27FC236}">
                <a16:creationId xmlns:a16="http://schemas.microsoft.com/office/drawing/2014/main" id="{070E0B54-224B-A8C4-CA1F-F654EDAF8760}"/>
              </a:ext>
            </a:extLst>
          </p:cNvPr>
          <p:cNvSpPr/>
          <p:nvPr/>
        </p:nvSpPr>
        <p:spPr>
          <a:xfrm>
            <a:off x="4693920" y="2133600"/>
            <a:ext cx="4251960" cy="4023360"/>
          </a:xfrm>
          <a:prstGeom prst="rect">
            <a:avLst/>
          </a:prstGeom>
          <a:solidFill>
            <a:srgbClr val="F4F4F4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D094B0DC-FD25-1536-2990-15AFBDBAE429}"/>
              </a:ext>
            </a:extLst>
          </p:cNvPr>
          <p:cNvSpPr/>
          <p:nvPr/>
        </p:nvSpPr>
        <p:spPr>
          <a:xfrm>
            <a:off x="4785360" y="22250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Computer Engineering for CarIQ?</a:t>
            </a:r>
            <a:endParaRPr lang="en-US" sz="1100" dirty="0"/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5AAA4201-3131-9D73-C384-195F23726B2A}"/>
              </a:ext>
            </a:extLst>
          </p:cNvPr>
          <p:cNvSpPr/>
          <p:nvPr/>
        </p:nvSpPr>
        <p:spPr>
          <a:xfrm>
            <a:off x="4785360" y="261823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36">
            <a:extLst>
              <a:ext uri="{FF2B5EF4-FFF2-40B4-BE49-F238E27FC236}">
                <a16:creationId xmlns:a16="http://schemas.microsoft.com/office/drawing/2014/main" id="{6FECEA17-DD1F-C8FC-BB2D-8C774E60790E}"/>
              </a:ext>
            </a:extLst>
          </p:cNvPr>
          <p:cNvSpPr/>
          <p:nvPr/>
        </p:nvSpPr>
        <p:spPr>
          <a:xfrm>
            <a:off x="4785360" y="2618232"/>
            <a:ext cx="36576" cy="5943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4" name="Text 37">
            <a:extLst>
              <a:ext uri="{FF2B5EF4-FFF2-40B4-BE49-F238E27FC236}">
                <a16:creationId xmlns:a16="http://schemas.microsoft.com/office/drawing/2014/main" id="{A87C334D-B146-562A-A0E9-726B28893DB5}"/>
              </a:ext>
            </a:extLst>
          </p:cNvPr>
          <p:cNvSpPr/>
          <p:nvPr/>
        </p:nvSpPr>
        <p:spPr>
          <a:xfrm>
            <a:off x="4876800" y="26639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4E591ED0-CEB5-B193-6C2D-8473F5808AB0}"/>
              </a:ext>
            </a:extLst>
          </p:cNvPr>
          <p:cNvSpPr/>
          <p:nvPr/>
        </p:nvSpPr>
        <p:spPr>
          <a:xfrm>
            <a:off x="4876800" y="28925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pipelines, Random Forest, Gradient Boosting — core CE curriculum applied to real-world price, maintenance &amp; depreciation prediction</a:t>
            </a:r>
            <a:endParaRPr lang="en-US" sz="800" dirty="0"/>
          </a:p>
        </p:txBody>
      </p:sp>
      <p:sp>
        <p:nvSpPr>
          <p:cNvPr id="36" name="Shape 39">
            <a:extLst>
              <a:ext uri="{FF2B5EF4-FFF2-40B4-BE49-F238E27FC236}">
                <a16:creationId xmlns:a16="http://schemas.microsoft.com/office/drawing/2014/main" id="{AE5ED6A9-0C19-96A5-B4D2-D3260FCB4B48}"/>
              </a:ext>
            </a:extLst>
          </p:cNvPr>
          <p:cNvSpPr/>
          <p:nvPr/>
        </p:nvSpPr>
        <p:spPr>
          <a:xfrm>
            <a:off x="4785360" y="330403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7" name="Shape 40">
            <a:extLst>
              <a:ext uri="{FF2B5EF4-FFF2-40B4-BE49-F238E27FC236}">
                <a16:creationId xmlns:a16="http://schemas.microsoft.com/office/drawing/2014/main" id="{D351C42A-64E2-618B-382C-287EBD41875F}"/>
              </a:ext>
            </a:extLst>
          </p:cNvPr>
          <p:cNvSpPr/>
          <p:nvPr/>
        </p:nvSpPr>
        <p:spPr>
          <a:xfrm>
            <a:off x="4785360" y="3304032"/>
            <a:ext cx="36576" cy="5943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B95AB7C9-C3D2-6AA4-7C8A-0407CEAAF577}"/>
              </a:ext>
            </a:extLst>
          </p:cNvPr>
          <p:cNvSpPr/>
          <p:nvPr/>
        </p:nvSpPr>
        <p:spPr>
          <a:xfrm>
            <a:off x="4876800" y="33497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950" dirty="0"/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80132D35-E4A6-4D06-B597-72FD0EFC3454}"/>
              </a:ext>
            </a:extLst>
          </p:cNvPr>
          <p:cNvSpPr/>
          <p:nvPr/>
        </p:nvSpPr>
        <p:spPr>
          <a:xfrm>
            <a:off x="4876800" y="35783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design, JWT authentication, SQLite/MySQL database schema, CORS integration — full-stack deployment skills</a:t>
            </a:r>
            <a:endParaRPr lang="en-US" sz="800" dirty="0"/>
          </a:p>
        </p:txBody>
      </p:sp>
      <p:sp>
        <p:nvSpPr>
          <p:cNvPr id="40" name="Shape 43">
            <a:extLst>
              <a:ext uri="{FF2B5EF4-FFF2-40B4-BE49-F238E27FC236}">
                <a16:creationId xmlns:a16="http://schemas.microsoft.com/office/drawing/2014/main" id="{938CA6DC-601E-C53B-6C68-FBF2C4FC473A}"/>
              </a:ext>
            </a:extLst>
          </p:cNvPr>
          <p:cNvSpPr/>
          <p:nvPr/>
        </p:nvSpPr>
        <p:spPr>
          <a:xfrm>
            <a:off x="4785360" y="398983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44">
            <a:extLst>
              <a:ext uri="{FF2B5EF4-FFF2-40B4-BE49-F238E27FC236}">
                <a16:creationId xmlns:a16="http://schemas.microsoft.com/office/drawing/2014/main" id="{F22BE26E-06B1-F80D-38CC-86BBB83BC9B4}"/>
              </a:ext>
            </a:extLst>
          </p:cNvPr>
          <p:cNvSpPr/>
          <p:nvPr/>
        </p:nvSpPr>
        <p:spPr>
          <a:xfrm>
            <a:off x="4785360" y="3989832"/>
            <a:ext cx="36576" cy="5943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2" name="Text 45">
            <a:extLst>
              <a:ext uri="{FF2B5EF4-FFF2-40B4-BE49-F238E27FC236}">
                <a16:creationId xmlns:a16="http://schemas.microsoft.com/office/drawing/2014/main" id="{92CBD282-6F9E-6B32-A57C-451097E8D32F}"/>
              </a:ext>
            </a:extLst>
          </p:cNvPr>
          <p:cNvSpPr/>
          <p:nvPr/>
        </p:nvSpPr>
        <p:spPr>
          <a:xfrm>
            <a:off x="4876800" y="40355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50" dirty="0"/>
          </a:p>
        </p:txBody>
      </p:sp>
      <p:sp>
        <p:nvSpPr>
          <p:cNvPr id="43" name="Text 46">
            <a:extLst>
              <a:ext uri="{FF2B5EF4-FFF2-40B4-BE49-F238E27FC236}">
                <a16:creationId xmlns:a16="http://schemas.microsoft.com/office/drawing/2014/main" id="{62846319-80BB-D051-1CAC-A7E3810E100B}"/>
              </a:ext>
            </a:extLst>
          </p:cNvPr>
          <p:cNvSpPr/>
          <p:nvPr/>
        </p:nvSpPr>
        <p:spPr>
          <a:xfrm>
            <a:off x="4876800" y="42641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image processing pipeline: Gaussian blur, Canny edge detection, density scoring — image processing module from CE curriculum</a:t>
            </a:r>
            <a:endParaRPr lang="en-US" sz="800" dirty="0"/>
          </a:p>
        </p:txBody>
      </p:sp>
      <p:sp>
        <p:nvSpPr>
          <p:cNvPr id="44" name="Shape 47">
            <a:extLst>
              <a:ext uri="{FF2B5EF4-FFF2-40B4-BE49-F238E27FC236}">
                <a16:creationId xmlns:a16="http://schemas.microsoft.com/office/drawing/2014/main" id="{C2FBD6DC-85A0-BB9C-36BE-ECB1D8D4FAB4}"/>
              </a:ext>
            </a:extLst>
          </p:cNvPr>
          <p:cNvSpPr/>
          <p:nvPr/>
        </p:nvSpPr>
        <p:spPr>
          <a:xfrm>
            <a:off x="4785360" y="467563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5" name="Shape 48">
            <a:extLst>
              <a:ext uri="{FF2B5EF4-FFF2-40B4-BE49-F238E27FC236}">
                <a16:creationId xmlns:a16="http://schemas.microsoft.com/office/drawing/2014/main" id="{99DF6D02-954C-FA47-C24B-DB25AE8A2E15}"/>
              </a:ext>
            </a:extLst>
          </p:cNvPr>
          <p:cNvSpPr/>
          <p:nvPr/>
        </p:nvSpPr>
        <p:spPr>
          <a:xfrm>
            <a:off x="4785360" y="4675632"/>
            <a:ext cx="36576" cy="5943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6" name="Text 49">
            <a:extLst>
              <a:ext uri="{FF2B5EF4-FFF2-40B4-BE49-F238E27FC236}">
                <a16:creationId xmlns:a16="http://schemas.microsoft.com/office/drawing/2014/main" id="{E0C82176-7478-5B93-E88C-C1F2AFD4349E}"/>
              </a:ext>
            </a:extLst>
          </p:cNvPr>
          <p:cNvSpPr/>
          <p:nvPr/>
        </p:nvSpPr>
        <p:spPr>
          <a:xfrm>
            <a:off x="4876800" y="47213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50" dirty="0"/>
          </a:p>
        </p:txBody>
      </p:sp>
      <p:sp>
        <p:nvSpPr>
          <p:cNvPr id="47" name="Text 50">
            <a:extLst>
              <a:ext uri="{FF2B5EF4-FFF2-40B4-BE49-F238E27FC236}">
                <a16:creationId xmlns:a16="http://schemas.microsoft.com/office/drawing/2014/main" id="{4523587D-408E-C88F-B05A-E0A4974CD18D}"/>
              </a:ext>
            </a:extLst>
          </p:cNvPr>
          <p:cNvSpPr/>
          <p:nvPr/>
        </p:nvSpPr>
        <p:spPr>
          <a:xfrm>
            <a:off x="4876800" y="49499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ColumnTransformer preprocessing, train/test split, hyperparameter tuning via GridSearchCV on 8,128-record CarDekho dataset</a:t>
            </a:r>
            <a:endParaRPr lang="en-US" sz="800" dirty="0"/>
          </a:p>
        </p:txBody>
      </p:sp>
      <p:sp>
        <p:nvSpPr>
          <p:cNvPr id="48" name="Shape 51">
            <a:extLst>
              <a:ext uri="{FF2B5EF4-FFF2-40B4-BE49-F238E27FC236}">
                <a16:creationId xmlns:a16="http://schemas.microsoft.com/office/drawing/2014/main" id="{F2D03AB6-F344-2C69-E552-D3759586F212}"/>
              </a:ext>
            </a:extLst>
          </p:cNvPr>
          <p:cNvSpPr/>
          <p:nvPr/>
        </p:nvSpPr>
        <p:spPr>
          <a:xfrm>
            <a:off x="4785360" y="536143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9" name="Shape 52">
            <a:extLst>
              <a:ext uri="{FF2B5EF4-FFF2-40B4-BE49-F238E27FC236}">
                <a16:creationId xmlns:a16="http://schemas.microsoft.com/office/drawing/2014/main" id="{D90E2819-6393-44A2-6679-A097D2C95F7B}"/>
              </a:ext>
            </a:extLst>
          </p:cNvPr>
          <p:cNvSpPr/>
          <p:nvPr/>
        </p:nvSpPr>
        <p:spPr>
          <a:xfrm>
            <a:off x="4785360" y="5361432"/>
            <a:ext cx="36576" cy="5943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0" name="Text 53">
            <a:extLst>
              <a:ext uri="{FF2B5EF4-FFF2-40B4-BE49-F238E27FC236}">
                <a16:creationId xmlns:a16="http://schemas.microsoft.com/office/drawing/2014/main" id="{9353E717-FA53-E8DF-43BC-430110ED93A6}"/>
              </a:ext>
            </a:extLst>
          </p:cNvPr>
          <p:cNvSpPr/>
          <p:nvPr/>
        </p:nvSpPr>
        <p:spPr>
          <a:xfrm>
            <a:off x="4876800" y="54071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</a:t>
            </a:r>
            <a:endParaRPr lang="en-US" sz="950" dirty="0"/>
          </a:p>
        </p:txBody>
      </p:sp>
      <p:sp>
        <p:nvSpPr>
          <p:cNvPr id="51" name="Text 54">
            <a:extLst>
              <a:ext uri="{FF2B5EF4-FFF2-40B4-BE49-F238E27FC236}">
                <a16:creationId xmlns:a16="http://schemas.microsoft.com/office/drawing/2014/main" id="{AD6DCA87-D5A7-437E-0598-7B1A60A731A6}"/>
              </a:ext>
            </a:extLst>
          </p:cNvPr>
          <p:cNvSpPr/>
          <p:nvPr/>
        </p:nvSpPr>
        <p:spPr>
          <a:xfrm>
            <a:off x="4876800" y="56357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architecture, REST API design, Scikit-learn Pipeline serialisation (joblib), role-differentiated frontend for sellers &amp; buyers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7497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2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6</a:t>
            </a:fld>
            <a:endParaRPr lang="en-US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0E97862F-507F-90DE-1C2F-574F0A2647EC}"/>
              </a:ext>
            </a:extLst>
          </p:cNvPr>
          <p:cNvSpPr/>
          <p:nvPr/>
        </p:nvSpPr>
        <p:spPr>
          <a:xfrm>
            <a:off x="365760" y="2145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CarIQ: The Intelligent Used Car Marketplace</a:t>
            </a:r>
            <a:endParaRPr lang="en-US" sz="14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310C4CCF-5933-F3DE-ECAA-DC5CA6E3AF08}"/>
              </a:ext>
            </a:extLst>
          </p:cNvPr>
          <p:cNvSpPr/>
          <p:nvPr/>
        </p:nvSpPr>
        <p:spPr>
          <a:xfrm>
            <a:off x="365760" y="2438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CarIQ transforms a listing platform into a decision intelligence engine. Five AI modules resolve the Purchase Decision Triangle — simultaneously.</a:t>
            </a:r>
            <a:endParaRPr lang="en-US" sz="95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07FB4F46-0A22-37BD-F6CA-0612C8E0229A}"/>
              </a:ext>
            </a:extLst>
          </p:cNvPr>
          <p:cNvSpPr/>
          <p:nvPr/>
        </p:nvSpPr>
        <p:spPr>
          <a:xfrm>
            <a:off x="274320" y="2767584"/>
            <a:ext cx="2788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27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4787693B-7428-9824-5A15-AC8AAA850A03}"/>
              </a:ext>
            </a:extLst>
          </p:cNvPr>
          <p:cNvSpPr/>
          <p:nvPr/>
        </p:nvSpPr>
        <p:spPr>
          <a:xfrm>
            <a:off x="274320" y="2767584"/>
            <a:ext cx="2788920" cy="34747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EE4B5354-5773-7B07-25E7-4E3378C9EB3A}"/>
              </a:ext>
            </a:extLst>
          </p:cNvPr>
          <p:cNvSpPr/>
          <p:nvPr/>
        </p:nvSpPr>
        <p:spPr>
          <a:xfrm>
            <a:off x="365760" y="27675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Price Prediction</a:t>
            </a:r>
            <a:endParaRPr lang="en-US" sz="95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892831AD-9F6D-F4C2-1186-2B123D39E296}"/>
              </a:ext>
            </a:extLst>
          </p:cNvPr>
          <p:cNvSpPr/>
          <p:nvPr/>
        </p:nvSpPr>
        <p:spPr>
          <a:xfrm>
            <a:off x="365760" y="3151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300 Estimators</a:t>
            </a:r>
            <a:endParaRPr lang="en-US" sz="85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64DFBF70-C4B5-E794-069E-C5D89F13F4AA}"/>
              </a:ext>
            </a:extLst>
          </p:cNvPr>
          <p:cNvSpPr/>
          <p:nvPr/>
        </p:nvSpPr>
        <p:spPr>
          <a:xfrm>
            <a:off x="365760" y="34076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class, city tier, regulatory risk score, fuel type, owner count, mileage band</a:t>
            </a:r>
            <a:endParaRPr lang="en-US" sz="800" dirty="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3D20B641-F0CE-241A-280E-1B2D0C5C12A4}"/>
              </a:ext>
            </a:extLst>
          </p:cNvPr>
          <p:cNvSpPr/>
          <p:nvPr/>
        </p:nvSpPr>
        <p:spPr>
          <a:xfrm>
            <a:off x="365760" y="3974592"/>
            <a:ext cx="260604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089A8B9D-BCD7-1A30-0098-4B8794494181}"/>
              </a:ext>
            </a:extLst>
          </p:cNvPr>
          <p:cNvSpPr/>
          <p:nvPr/>
        </p:nvSpPr>
        <p:spPr>
          <a:xfrm>
            <a:off x="365760" y="40111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0.94 | MAE = ₹70,583 | RMSE = ₹1,61,962</a:t>
            </a:r>
            <a:endParaRPr lang="en-US" sz="850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2EBB1F49-1EDE-5F93-40CC-2ECF2F357E2B}"/>
              </a:ext>
            </a:extLst>
          </p:cNvPr>
          <p:cNvSpPr/>
          <p:nvPr/>
        </p:nvSpPr>
        <p:spPr>
          <a:xfrm>
            <a:off x="3154680" y="2767584"/>
            <a:ext cx="2788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EE14206C-9AE5-7DC3-52E2-348AE41704AB}"/>
              </a:ext>
            </a:extLst>
          </p:cNvPr>
          <p:cNvSpPr/>
          <p:nvPr/>
        </p:nvSpPr>
        <p:spPr>
          <a:xfrm>
            <a:off x="3154680" y="2767584"/>
            <a:ext cx="27889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2BCD51A3-7A2F-17A1-E082-1F6688C1824E}"/>
              </a:ext>
            </a:extLst>
          </p:cNvPr>
          <p:cNvSpPr/>
          <p:nvPr/>
        </p:nvSpPr>
        <p:spPr>
          <a:xfrm>
            <a:off x="3246120" y="27675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2-Year Maintenance Forecasting</a:t>
            </a:r>
            <a:endParaRPr lang="en-US" sz="95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A2E5CDD8-4606-B093-4F95-E46FB03C34EE}"/>
              </a:ext>
            </a:extLst>
          </p:cNvPr>
          <p:cNvSpPr/>
          <p:nvPr/>
        </p:nvSpPr>
        <p:spPr>
          <a:xfrm>
            <a:off x="3246120" y="3151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Gradient Boosting — Novel Contribution</a:t>
            </a:r>
            <a:endParaRPr lang="en-US" sz="850" dirty="0"/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B47D4204-0C9E-CCCA-69FA-A1E3A06A8430}"/>
              </a:ext>
            </a:extLst>
          </p:cNvPr>
          <p:cNvSpPr/>
          <p:nvPr/>
        </p:nvSpPr>
        <p:spPr>
          <a:xfrm>
            <a:off x="3246120" y="34076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reliability class, fuel type, age penalty, mileage penalty, city tier adjustment</a:t>
            </a:r>
            <a:endParaRPr lang="en-US" sz="800" dirty="0"/>
          </a:p>
        </p:txBody>
      </p:sp>
      <p:sp>
        <p:nvSpPr>
          <p:cNvPr id="21" name="Shape 24">
            <a:extLst>
              <a:ext uri="{FF2B5EF4-FFF2-40B4-BE49-F238E27FC236}">
                <a16:creationId xmlns:a16="http://schemas.microsoft.com/office/drawing/2014/main" id="{A510A197-FD4B-ECAB-A1F0-56EA2E7008B5}"/>
              </a:ext>
            </a:extLst>
          </p:cNvPr>
          <p:cNvSpPr/>
          <p:nvPr/>
        </p:nvSpPr>
        <p:spPr>
          <a:xfrm>
            <a:off x="3246120" y="3974592"/>
            <a:ext cx="260604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CAEE16B1-9D2A-CEB8-18BE-AC19B7B85A4C}"/>
              </a:ext>
            </a:extLst>
          </p:cNvPr>
          <p:cNvSpPr/>
          <p:nvPr/>
        </p:nvSpPr>
        <p:spPr>
          <a:xfrm>
            <a:off x="3246120" y="40111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0.977 | MAE = ₹6,997 | MAPE = 8.0%</a:t>
            </a:r>
            <a:endParaRPr lang="en-US" sz="850" dirty="0"/>
          </a:p>
        </p:txBody>
      </p:sp>
      <p:sp>
        <p:nvSpPr>
          <p:cNvPr id="23" name="Shape 26">
            <a:extLst>
              <a:ext uri="{FF2B5EF4-FFF2-40B4-BE49-F238E27FC236}">
                <a16:creationId xmlns:a16="http://schemas.microsoft.com/office/drawing/2014/main" id="{4DA36BD9-1176-B9CF-83A3-ABAAFCDAE1A5}"/>
              </a:ext>
            </a:extLst>
          </p:cNvPr>
          <p:cNvSpPr/>
          <p:nvPr/>
        </p:nvSpPr>
        <p:spPr>
          <a:xfrm>
            <a:off x="6035040" y="2767584"/>
            <a:ext cx="2788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EEAD730E-BFBB-677F-5054-16475DF24D36}"/>
              </a:ext>
            </a:extLst>
          </p:cNvPr>
          <p:cNvSpPr/>
          <p:nvPr/>
        </p:nvSpPr>
        <p:spPr>
          <a:xfrm>
            <a:off x="6035040" y="2767584"/>
            <a:ext cx="2788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D282D53E-7AA6-B5A3-B691-32260966E5B0}"/>
              </a:ext>
            </a:extLst>
          </p:cNvPr>
          <p:cNvSpPr/>
          <p:nvPr/>
        </p:nvSpPr>
        <p:spPr>
          <a:xfrm>
            <a:off x="6126480" y="27675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Depreciation Modeling</a:t>
            </a:r>
            <a:endParaRPr lang="en-US" sz="950" dirty="0"/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16CA1787-EB0E-4EEC-9F6F-EEC9E727DC9D}"/>
              </a:ext>
            </a:extLst>
          </p:cNvPr>
          <p:cNvSpPr/>
          <p:nvPr/>
        </p:nvSpPr>
        <p:spPr>
          <a:xfrm>
            <a:off x="6126480" y="3151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Brand × Fuel × Age interactions</a:t>
            </a:r>
            <a:endParaRPr lang="en-US" sz="850" dirty="0"/>
          </a:p>
        </p:txBody>
      </p:sp>
      <p:sp>
        <p:nvSpPr>
          <p:cNvPr id="27" name="Text 30">
            <a:extLst>
              <a:ext uri="{FF2B5EF4-FFF2-40B4-BE49-F238E27FC236}">
                <a16:creationId xmlns:a16="http://schemas.microsoft.com/office/drawing/2014/main" id="{C4242B5B-0BA0-09E8-C2B1-DF0BEEECDF0C}"/>
              </a:ext>
            </a:extLst>
          </p:cNvPr>
          <p:cNvSpPr/>
          <p:nvPr/>
        </p:nvSpPr>
        <p:spPr>
          <a:xfrm>
            <a:off x="6126480" y="34076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schedules, BS-VI regulatory effects, diesel age risk, brand resale liquidity</a:t>
            </a:r>
            <a:endParaRPr lang="en-US" sz="800" dirty="0"/>
          </a:p>
        </p:txBody>
      </p:sp>
      <p:sp>
        <p:nvSpPr>
          <p:cNvPr id="28" name="Shape 31">
            <a:extLst>
              <a:ext uri="{FF2B5EF4-FFF2-40B4-BE49-F238E27FC236}">
                <a16:creationId xmlns:a16="http://schemas.microsoft.com/office/drawing/2014/main" id="{D37DA897-C2A3-7762-622B-3524F6328DED}"/>
              </a:ext>
            </a:extLst>
          </p:cNvPr>
          <p:cNvSpPr/>
          <p:nvPr/>
        </p:nvSpPr>
        <p:spPr>
          <a:xfrm>
            <a:off x="6126480" y="3974592"/>
            <a:ext cx="260604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B0B4892E-1A8F-D252-49F8-084C35059B08}"/>
              </a:ext>
            </a:extLst>
          </p:cNvPr>
          <p:cNvSpPr/>
          <p:nvPr/>
        </p:nvSpPr>
        <p:spPr>
          <a:xfrm>
            <a:off x="6126480" y="40111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0.996 | MAE = ₹13,623 | Avg 20.2% 2-yr loss</a:t>
            </a:r>
            <a:endParaRPr lang="en-US" sz="850" dirty="0"/>
          </a:p>
        </p:txBody>
      </p:sp>
      <p:sp>
        <p:nvSpPr>
          <p:cNvPr id="30" name="Shape 33">
            <a:extLst>
              <a:ext uri="{FF2B5EF4-FFF2-40B4-BE49-F238E27FC236}">
                <a16:creationId xmlns:a16="http://schemas.microsoft.com/office/drawing/2014/main" id="{954858FC-65ED-D740-136F-739E99EB2177}"/>
              </a:ext>
            </a:extLst>
          </p:cNvPr>
          <p:cNvSpPr/>
          <p:nvPr/>
        </p:nvSpPr>
        <p:spPr>
          <a:xfrm>
            <a:off x="274320" y="4797552"/>
            <a:ext cx="425196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34">
            <a:extLst>
              <a:ext uri="{FF2B5EF4-FFF2-40B4-BE49-F238E27FC236}">
                <a16:creationId xmlns:a16="http://schemas.microsoft.com/office/drawing/2014/main" id="{E5C6EF2A-459B-6B3B-87FF-D3C018E01852}"/>
              </a:ext>
            </a:extLst>
          </p:cNvPr>
          <p:cNvSpPr/>
          <p:nvPr/>
        </p:nvSpPr>
        <p:spPr>
          <a:xfrm>
            <a:off x="274320" y="4797552"/>
            <a:ext cx="425196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5">
            <a:extLst>
              <a:ext uri="{FF2B5EF4-FFF2-40B4-BE49-F238E27FC236}">
                <a16:creationId xmlns:a16="http://schemas.microsoft.com/office/drawing/2014/main" id="{B24048EB-794E-928A-0A8E-A46AF90B2B42}"/>
              </a:ext>
            </a:extLst>
          </p:cNvPr>
          <p:cNvSpPr/>
          <p:nvPr/>
        </p:nvSpPr>
        <p:spPr>
          <a:xfrm>
            <a:off x="365760" y="47975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Vehicle Condition Detection</a:t>
            </a:r>
            <a:endParaRPr lang="en-US" sz="950" dirty="0"/>
          </a:p>
        </p:txBody>
      </p:sp>
      <p:sp>
        <p:nvSpPr>
          <p:cNvPr id="33" name="Text 36">
            <a:extLst>
              <a:ext uri="{FF2B5EF4-FFF2-40B4-BE49-F238E27FC236}">
                <a16:creationId xmlns:a16="http://schemas.microsoft.com/office/drawing/2014/main" id="{B017D42E-9B0F-3088-4AAC-C2D2C85CA35D}"/>
              </a:ext>
            </a:extLst>
          </p:cNvPr>
          <p:cNvSpPr/>
          <p:nvPr/>
        </p:nvSpPr>
        <p:spPr>
          <a:xfrm>
            <a:off x="365760" y="511759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Pipeline — CPU deployable, no GPU</a:t>
            </a:r>
            <a:endParaRPr lang="en-US" sz="850" dirty="0"/>
          </a:p>
        </p:txBody>
      </p:sp>
      <p:sp>
        <p:nvSpPr>
          <p:cNvPr id="34" name="Text 37">
            <a:extLst>
              <a:ext uri="{FF2B5EF4-FFF2-40B4-BE49-F238E27FC236}">
                <a16:creationId xmlns:a16="http://schemas.microsoft.com/office/drawing/2014/main" id="{3DBEA4F5-985E-8E45-040F-762B6545942F}"/>
              </a:ext>
            </a:extLst>
          </p:cNvPr>
          <p:cNvSpPr/>
          <p:nvPr/>
        </p:nvSpPr>
        <p:spPr>
          <a:xfrm>
            <a:off x="365760" y="532790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→ Canny edge detection → edge density scoring → Good/Average/Poor badge</a:t>
            </a:r>
            <a:endParaRPr lang="en-US" sz="800" dirty="0"/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841F9D5F-9B5E-E31B-9204-DEF6B8992E2A}"/>
              </a:ext>
            </a:extLst>
          </p:cNvPr>
          <p:cNvSpPr/>
          <p:nvPr/>
        </p:nvSpPr>
        <p:spPr>
          <a:xfrm>
            <a:off x="365760" y="57119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&lt;90ms | Score 0–100 | 640×480 processing</a:t>
            </a:r>
            <a:endParaRPr lang="en-US" sz="850" dirty="0"/>
          </a:p>
        </p:txBody>
      </p:sp>
      <p:sp>
        <p:nvSpPr>
          <p:cNvPr id="36" name="Shape 39">
            <a:extLst>
              <a:ext uri="{FF2B5EF4-FFF2-40B4-BE49-F238E27FC236}">
                <a16:creationId xmlns:a16="http://schemas.microsoft.com/office/drawing/2014/main" id="{B5338FE4-F1BE-DDFB-EB4E-47938E776FF6}"/>
              </a:ext>
            </a:extLst>
          </p:cNvPr>
          <p:cNvSpPr/>
          <p:nvPr/>
        </p:nvSpPr>
        <p:spPr>
          <a:xfrm>
            <a:off x="4663440" y="4797552"/>
            <a:ext cx="425196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27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40">
            <a:extLst>
              <a:ext uri="{FF2B5EF4-FFF2-40B4-BE49-F238E27FC236}">
                <a16:creationId xmlns:a16="http://schemas.microsoft.com/office/drawing/2014/main" id="{29D7FAF6-6A26-1B91-B44C-926AAEA23D7F}"/>
              </a:ext>
            </a:extLst>
          </p:cNvPr>
          <p:cNvSpPr/>
          <p:nvPr/>
        </p:nvSpPr>
        <p:spPr>
          <a:xfrm>
            <a:off x="4663440" y="4797552"/>
            <a:ext cx="4251960" cy="2926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182A7392-AE83-305F-1A6C-F407CB2E873E}"/>
              </a:ext>
            </a:extLst>
          </p:cNvPr>
          <p:cNvSpPr/>
          <p:nvPr/>
        </p:nvSpPr>
        <p:spPr>
          <a:xfrm>
            <a:off x="4754880" y="47975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Fraud Detection</a:t>
            </a:r>
            <a:endParaRPr lang="en-US" sz="950" dirty="0"/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3813699F-A719-996E-65EC-ADBA0F074D2B}"/>
              </a:ext>
            </a:extLst>
          </p:cNvPr>
          <p:cNvSpPr/>
          <p:nvPr/>
        </p:nvSpPr>
        <p:spPr>
          <a:xfrm>
            <a:off x="4754880" y="511759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Dual-threshold anomaly scoring</a:t>
            </a:r>
            <a:endParaRPr lang="en-US" sz="850" dirty="0"/>
          </a:p>
        </p:txBody>
      </p:sp>
      <p:sp>
        <p:nvSpPr>
          <p:cNvPr id="40" name="Text 43">
            <a:extLst>
              <a:ext uri="{FF2B5EF4-FFF2-40B4-BE49-F238E27FC236}">
                <a16:creationId xmlns:a16="http://schemas.microsoft.com/office/drawing/2014/main" id="{235933F5-C35D-F9B1-31F2-FA1D70126A37}"/>
              </a:ext>
            </a:extLst>
          </p:cNvPr>
          <p:cNvSpPr/>
          <p:nvPr/>
        </p:nvSpPr>
        <p:spPr>
          <a:xfrm>
            <a:off x="4754880" y="532790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ratio &lt;0.60 AND condition score &lt;40 → fraud flag (reduces FPR vs single-signal)</a:t>
            </a:r>
            <a:endParaRPr lang="en-US" sz="800" dirty="0"/>
          </a:p>
        </p:txBody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3BC13A6B-10E1-0A1F-6A4E-19545BD0EE91}"/>
              </a:ext>
            </a:extLst>
          </p:cNvPr>
          <p:cNvSpPr/>
          <p:nvPr/>
        </p:nvSpPr>
        <p:spPr>
          <a:xfrm>
            <a:off x="4754880" y="57119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= 89.4% | FPR = 6.2% on 200 synthetic listings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822270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Details (Timeline)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7</a:t>
            </a:fld>
            <a:endParaRPr lang="en-US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5E9E1714-A1AC-9EF9-281F-03230A055338}"/>
              </a:ext>
            </a:extLst>
          </p:cNvPr>
          <p:cNvSpPr/>
          <p:nvPr/>
        </p:nvSpPr>
        <p:spPr>
          <a:xfrm>
            <a:off x="227763" y="2554313"/>
            <a:ext cx="4389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4233122E-DD52-227A-02E7-0AE9F5F3BEF0}"/>
              </a:ext>
            </a:extLst>
          </p:cNvPr>
          <p:cNvSpPr/>
          <p:nvPr/>
        </p:nvSpPr>
        <p:spPr>
          <a:xfrm>
            <a:off x="227763" y="2554313"/>
            <a:ext cx="43891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A5302557-C143-C823-B2D0-34E422D4CE0D}"/>
              </a:ext>
            </a:extLst>
          </p:cNvPr>
          <p:cNvSpPr/>
          <p:nvPr/>
        </p:nvSpPr>
        <p:spPr>
          <a:xfrm>
            <a:off x="273483" y="2554313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CARIQ  TOTAL COST OF OWNERSHIP CARD</a:t>
            </a:r>
            <a:endParaRPr lang="en-US" sz="9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B801C637-54E9-8312-63F5-133BC3B96A0D}"/>
              </a:ext>
            </a:extLst>
          </p:cNvPr>
          <p:cNvSpPr/>
          <p:nvPr/>
        </p:nvSpPr>
        <p:spPr>
          <a:xfrm>
            <a:off x="273483" y="2993225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Hyundai Creta 1.6 Diesel SX — 78,000 km — 1st Owner — Mumbai</a:t>
            </a:r>
            <a:endParaRPr lang="en-US" sz="8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920C517-E0B8-6D35-BE53-74E929E0E9A3}"/>
              </a:ext>
            </a:extLst>
          </p:cNvPr>
          <p:cNvSpPr/>
          <p:nvPr/>
        </p:nvSpPr>
        <p:spPr>
          <a:xfrm>
            <a:off x="227763" y="3249257"/>
            <a:ext cx="4389120" cy="33832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D8F4A2B8-008A-62D4-FC5C-15F7F65BBDC6}"/>
              </a:ext>
            </a:extLst>
          </p:cNvPr>
          <p:cNvSpPr/>
          <p:nvPr/>
        </p:nvSpPr>
        <p:spPr>
          <a:xfrm>
            <a:off x="364923" y="3304121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Price</a:t>
            </a:r>
            <a:endParaRPr lang="en-US" sz="850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3FEAF44-14D1-AAE1-3E2B-64C812BCD3F6}"/>
              </a:ext>
            </a:extLst>
          </p:cNvPr>
          <p:cNvSpPr/>
          <p:nvPr/>
        </p:nvSpPr>
        <p:spPr>
          <a:xfrm>
            <a:off x="2193723" y="3304121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₹3,80,000</a:t>
            </a:r>
            <a:endParaRPr lang="en-US" sz="90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D8ACA787-A907-44C7-5DE7-47EB0801A588}"/>
              </a:ext>
            </a:extLst>
          </p:cNvPr>
          <p:cNvSpPr/>
          <p:nvPr/>
        </p:nvSpPr>
        <p:spPr>
          <a:xfrm>
            <a:off x="3473883" y="3304121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1EA2741B-C32F-81D7-701F-5165B2F8E0DD}"/>
              </a:ext>
            </a:extLst>
          </p:cNvPr>
          <p:cNvSpPr/>
          <p:nvPr/>
        </p:nvSpPr>
        <p:spPr>
          <a:xfrm>
            <a:off x="364923" y="3642449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Price Assessment</a:t>
            </a:r>
            <a:endParaRPr lang="en-US" sz="85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0B202F7A-4CDF-7DD3-B6F8-6C28B1EC114D}"/>
              </a:ext>
            </a:extLst>
          </p:cNvPr>
          <p:cNvSpPr/>
          <p:nvPr/>
        </p:nvSpPr>
        <p:spPr>
          <a:xfrm>
            <a:off x="2193723" y="3642449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₹4,15,000</a:t>
            </a:r>
            <a:endParaRPr lang="en-US" sz="900" dirty="0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9D842711-B9B1-4A66-236F-62C79598C11C}"/>
              </a:ext>
            </a:extLst>
          </p:cNvPr>
          <p:cNvSpPr/>
          <p:nvPr/>
        </p:nvSpPr>
        <p:spPr>
          <a:xfrm>
            <a:off x="3473883" y="3642449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UNDERPRICED ↑</a:t>
            </a:r>
            <a:endParaRPr lang="en-US" sz="750" dirty="0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983C132B-1BF5-9844-C1D5-74744BA6BB4C}"/>
              </a:ext>
            </a:extLst>
          </p:cNvPr>
          <p:cNvSpPr/>
          <p:nvPr/>
        </p:nvSpPr>
        <p:spPr>
          <a:xfrm>
            <a:off x="227763" y="3925913"/>
            <a:ext cx="4389120" cy="33832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22CA690D-3DC9-FB5B-7455-0B86036B926A}"/>
              </a:ext>
            </a:extLst>
          </p:cNvPr>
          <p:cNvSpPr/>
          <p:nvPr/>
        </p:nvSpPr>
        <p:spPr>
          <a:xfrm>
            <a:off x="364923" y="3980777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2-Year Maintenance</a:t>
            </a:r>
            <a:endParaRPr lang="en-US" sz="85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3E6C2CF9-DDEC-7D45-1C2C-E418A4A42AE9}"/>
              </a:ext>
            </a:extLst>
          </p:cNvPr>
          <p:cNvSpPr/>
          <p:nvPr/>
        </p:nvSpPr>
        <p:spPr>
          <a:xfrm>
            <a:off x="2193723" y="3980777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₹52,000</a:t>
            </a:r>
            <a:endParaRPr lang="en-US" sz="900" dirty="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CB8E7466-943C-2E5D-4E13-C6B930CA4E8E}"/>
              </a:ext>
            </a:extLst>
          </p:cNvPr>
          <p:cNvSpPr/>
          <p:nvPr/>
        </p:nvSpPr>
        <p:spPr>
          <a:xfrm>
            <a:off x="3473883" y="3980777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| 6yr | 78k km</a:t>
            </a:r>
            <a:endParaRPr lang="en-US" sz="75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DE58C74D-C380-8D87-29CC-019DF21D90B0}"/>
              </a:ext>
            </a:extLst>
          </p:cNvPr>
          <p:cNvSpPr/>
          <p:nvPr/>
        </p:nvSpPr>
        <p:spPr>
          <a:xfrm>
            <a:off x="364923" y="4319105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After 2 Years</a:t>
            </a:r>
            <a:endParaRPr lang="en-US" sz="85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8755DAA3-169A-7F28-316B-BABD5AF6191E}"/>
              </a:ext>
            </a:extLst>
          </p:cNvPr>
          <p:cNvSpPr/>
          <p:nvPr/>
        </p:nvSpPr>
        <p:spPr>
          <a:xfrm>
            <a:off x="2193723" y="4319105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₹2,95,000</a:t>
            </a:r>
            <a:endParaRPr lang="en-US" sz="900" dirty="0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F168C84A-A147-F5F4-2DB8-99A0CA9C9E5F}"/>
              </a:ext>
            </a:extLst>
          </p:cNvPr>
          <p:cNvSpPr/>
          <p:nvPr/>
        </p:nvSpPr>
        <p:spPr>
          <a:xfrm>
            <a:off x="3473883" y="4319105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−22.4% depreciation</a:t>
            </a:r>
            <a:endParaRPr lang="en-US" sz="750" dirty="0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DB7EA8E9-01C6-8FD1-0F23-87715480CAB7}"/>
              </a:ext>
            </a:extLst>
          </p:cNvPr>
          <p:cNvSpPr/>
          <p:nvPr/>
        </p:nvSpPr>
        <p:spPr>
          <a:xfrm>
            <a:off x="227763" y="4602569"/>
            <a:ext cx="4389120" cy="33832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960FC475-3090-9161-9482-350B1EC7F5E5}"/>
              </a:ext>
            </a:extLst>
          </p:cNvPr>
          <p:cNvSpPr/>
          <p:nvPr/>
        </p:nvSpPr>
        <p:spPr>
          <a:xfrm>
            <a:off x="364923" y="4657433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Condition</a:t>
            </a:r>
            <a:endParaRPr lang="en-US" sz="850" dirty="0"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46CB08E5-0293-8371-0E18-2B55126DD437}"/>
              </a:ext>
            </a:extLst>
          </p:cNvPr>
          <p:cNvSpPr/>
          <p:nvPr/>
        </p:nvSpPr>
        <p:spPr>
          <a:xfrm>
            <a:off x="2193723" y="4657433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100</a:t>
            </a:r>
            <a:endParaRPr lang="en-US" sz="900" dirty="0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3F8DC5EA-64BD-8156-047F-B8B64907D406}"/>
              </a:ext>
            </a:extLst>
          </p:cNvPr>
          <p:cNvSpPr/>
          <p:nvPr/>
        </p:nvSpPr>
        <p:spPr>
          <a:xfrm>
            <a:off x="3473883" y="4657433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750" dirty="0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DA09722E-78E6-95F1-8E67-45DC30CCAA85}"/>
              </a:ext>
            </a:extLst>
          </p:cNvPr>
          <p:cNvSpPr/>
          <p:nvPr/>
        </p:nvSpPr>
        <p:spPr>
          <a:xfrm>
            <a:off x="364923" y="4995761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Flag</a:t>
            </a:r>
            <a:endParaRPr lang="en-US" sz="850" dirty="0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D3F0A66C-9E0F-650C-0E89-49022E3C7BE2}"/>
              </a:ext>
            </a:extLst>
          </p:cNvPr>
          <p:cNvSpPr/>
          <p:nvPr/>
        </p:nvSpPr>
        <p:spPr>
          <a:xfrm>
            <a:off x="2193723" y="4995761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Flag</a:t>
            </a:r>
            <a:endParaRPr lang="en-US" sz="900" dirty="0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64F94E33-CC73-73A7-0EF7-448B1DE00E42}"/>
              </a:ext>
            </a:extLst>
          </p:cNvPr>
          <p:cNvSpPr/>
          <p:nvPr/>
        </p:nvSpPr>
        <p:spPr>
          <a:xfrm>
            <a:off x="3473883" y="4995761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within range</a:t>
            </a:r>
            <a:endParaRPr lang="en-US" sz="750" dirty="0"/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EE95B04B-E003-8DAD-E395-44CB005C863A}"/>
              </a:ext>
            </a:extLst>
          </p:cNvPr>
          <p:cNvSpPr/>
          <p:nvPr/>
        </p:nvSpPr>
        <p:spPr>
          <a:xfrm>
            <a:off x="227763" y="5279225"/>
            <a:ext cx="4389120" cy="33832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8505B230-065A-D0D6-AEE3-5DF504F787B1}"/>
              </a:ext>
            </a:extLst>
          </p:cNvPr>
          <p:cNvSpPr/>
          <p:nvPr/>
        </p:nvSpPr>
        <p:spPr>
          <a:xfrm>
            <a:off x="364923" y="5334089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2-yr Net Cost</a:t>
            </a:r>
            <a:endParaRPr lang="en-US" sz="850" dirty="0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D9DA1063-3CA0-2661-6FF3-4BCD8A67C101}"/>
              </a:ext>
            </a:extLst>
          </p:cNvPr>
          <p:cNvSpPr/>
          <p:nvPr/>
        </p:nvSpPr>
        <p:spPr>
          <a:xfrm>
            <a:off x="2193723" y="5334089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₹1,37,000</a:t>
            </a:r>
            <a:endParaRPr lang="en-US" sz="900" dirty="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D799CBDC-3B74-8F21-9BF3-97D7F25A0716}"/>
              </a:ext>
            </a:extLst>
          </p:cNvPr>
          <p:cNvSpPr/>
          <p:nvPr/>
        </p:nvSpPr>
        <p:spPr>
          <a:xfrm>
            <a:off x="3473883" y="5334089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380k + 52k − 295k</a:t>
            </a:r>
            <a:endParaRPr lang="en-US" sz="750" dirty="0"/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14F09250-87F4-A6BC-C796-F4D4A279E813}"/>
              </a:ext>
            </a:extLst>
          </p:cNvPr>
          <p:cNvSpPr/>
          <p:nvPr/>
        </p:nvSpPr>
        <p:spPr>
          <a:xfrm>
            <a:off x="181168" y="5768429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questions. One view. Instant clarity.</a:t>
            </a:r>
            <a:endParaRPr lang="en-US" sz="950" dirty="0"/>
          </a:p>
        </p:txBody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746482EF-F545-7F45-10DD-089767789A69}"/>
              </a:ext>
            </a:extLst>
          </p:cNvPr>
          <p:cNvSpPr/>
          <p:nvPr/>
        </p:nvSpPr>
        <p:spPr>
          <a:xfrm>
            <a:off x="4800600" y="217483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Intelligence</a:t>
            </a:r>
            <a:endParaRPr lang="en-US" sz="1300" dirty="0"/>
          </a:p>
        </p:txBody>
      </p:sp>
      <p:sp>
        <p:nvSpPr>
          <p:cNvPr id="39" name="Shape 41">
            <a:extLst>
              <a:ext uri="{FF2B5EF4-FFF2-40B4-BE49-F238E27FC236}">
                <a16:creationId xmlns:a16="http://schemas.microsoft.com/office/drawing/2014/main" id="{58E6BB1B-4C72-5F26-6339-79E4EA0CC59B}"/>
              </a:ext>
            </a:extLst>
          </p:cNvPr>
          <p:cNvSpPr/>
          <p:nvPr/>
        </p:nvSpPr>
        <p:spPr>
          <a:xfrm>
            <a:off x="4754880" y="2522309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42">
            <a:extLst>
              <a:ext uri="{FF2B5EF4-FFF2-40B4-BE49-F238E27FC236}">
                <a16:creationId xmlns:a16="http://schemas.microsoft.com/office/drawing/2014/main" id="{7ADF5A4B-3EFC-AE41-35FE-A5665F536C56}"/>
              </a:ext>
            </a:extLst>
          </p:cNvPr>
          <p:cNvSpPr/>
          <p:nvPr/>
        </p:nvSpPr>
        <p:spPr>
          <a:xfrm>
            <a:off x="4754880" y="2522309"/>
            <a:ext cx="45720" cy="5486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1" name="Text 43">
            <a:extLst>
              <a:ext uri="{FF2B5EF4-FFF2-40B4-BE49-F238E27FC236}">
                <a16:creationId xmlns:a16="http://schemas.microsoft.com/office/drawing/2014/main" id="{3099237D-D4DF-15A1-29F3-D1F2A6A7DFFC}"/>
              </a:ext>
            </a:extLst>
          </p:cNvPr>
          <p:cNvSpPr/>
          <p:nvPr/>
        </p:nvSpPr>
        <p:spPr>
          <a:xfrm>
            <a:off x="4864608" y="2558885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Reliability Class</a:t>
            </a:r>
            <a:endParaRPr lang="en-US" sz="900" dirty="0"/>
          </a:p>
        </p:txBody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CED310B2-DCD9-A89F-3277-C76693750902}"/>
              </a:ext>
            </a:extLst>
          </p:cNvPr>
          <p:cNvSpPr/>
          <p:nvPr/>
        </p:nvSpPr>
        <p:spPr>
          <a:xfrm>
            <a:off x="4864608" y="2760053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Economy-HR (Maruti/Hyundai) vs Luxury (BMW/Audi) carry fundamentally different cost structures. Encoded as reliability proxy across all modules.</a:t>
            </a:r>
            <a:endParaRPr lang="en-US" sz="750" dirty="0"/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1550E763-D988-4E4C-459E-3E3336966135}"/>
              </a:ext>
            </a:extLst>
          </p:cNvPr>
          <p:cNvSpPr/>
          <p:nvPr/>
        </p:nvSpPr>
        <p:spPr>
          <a:xfrm>
            <a:off x="7607808" y="2595461"/>
            <a:ext cx="123444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C0272D"/>
            </a:solidFill>
            <a:prstDash val="solid"/>
          </a:ln>
        </p:spPr>
      </p:sp>
      <p:sp>
        <p:nvSpPr>
          <p:cNvPr id="44" name="Text 46">
            <a:extLst>
              <a:ext uri="{FF2B5EF4-FFF2-40B4-BE49-F238E27FC236}">
                <a16:creationId xmlns:a16="http://schemas.microsoft.com/office/drawing/2014/main" id="{76729AAE-63F5-2154-7C12-718EF9FF8160}"/>
              </a:ext>
            </a:extLst>
          </p:cNvPr>
          <p:cNvSpPr/>
          <p:nvPr/>
        </p:nvSpPr>
        <p:spPr>
          <a:xfrm>
            <a:off x="7607808" y="2595461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Maintenance, Depreciation</a:t>
            </a:r>
            <a:endParaRPr lang="en-US" sz="650" dirty="0"/>
          </a:p>
        </p:txBody>
      </p:sp>
      <p:sp>
        <p:nvSpPr>
          <p:cNvPr id="45" name="Shape 47">
            <a:extLst>
              <a:ext uri="{FF2B5EF4-FFF2-40B4-BE49-F238E27FC236}">
                <a16:creationId xmlns:a16="http://schemas.microsoft.com/office/drawing/2014/main" id="{53F09A0A-1258-D7CB-1428-6BCE3EF7B964}"/>
              </a:ext>
            </a:extLst>
          </p:cNvPr>
          <p:cNvSpPr/>
          <p:nvPr/>
        </p:nvSpPr>
        <p:spPr>
          <a:xfrm>
            <a:off x="4754880" y="3134957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8">
            <a:extLst>
              <a:ext uri="{FF2B5EF4-FFF2-40B4-BE49-F238E27FC236}">
                <a16:creationId xmlns:a16="http://schemas.microsoft.com/office/drawing/2014/main" id="{77D5178C-EFA3-BC1D-EE5F-C7A34CAAFC0B}"/>
              </a:ext>
            </a:extLst>
          </p:cNvPr>
          <p:cNvSpPr/>
          <p:nvPr/>
        </p:nvSpPr>
        <p:spPr>
          <a:xfrm>
            <a:off x="4754880" y="3134957"/>
            <a:ext cx="45720" cy="5486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7C4162BA-6A66-CFB3-3645-1A78628D64B2}"/>
              </a:ext>
            </a:extLst>
          </p:cNvPr>
          <p:cNvSpPr/>
          <p:nvPr/>
        </p:nvSpPr>
        <p:spPr>
          <a:xfrm>
            <a:off x="4864608" y="3171533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 Score</a:t>
            </a:r>
            <a:endParaRPr lang="en-US" sz="900" dirty="0"/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9B648D27-3B10-607E-4C95-1E22782DFF15}"/>
              </a:ext>
            </a:extLst>
          </p:cNvPr>
          <p:cNvSpPr/>
          <p:nvPr/>
        </p:nvSpPr>
        <p:spPr>
          <a:xfrm>
            <a:off x="4864608" y="3372701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feature: Diesel vehicles aged 8–10 yrs in NCR metros receive phase-out penalty score (0–1). Not in any other published model.</a:t>
            </a:r>
            <a:endParaRPr lang="en-US" sz="750" dirty="0"/>
          </a:p>
        </p:txBody>
      </p:sp>
      <p:sp>
        <p:nvSpPr>
          <p:cNvPr id="49" name="Shape 51">
            <a:extLst>
              <a:ext uri="{FF2B5EF4-FFF2-40B4-BE49-F238E27FC236}">
                <a16:creationId xmlns:a16="http://schemas.microsoft.com/office/drawing/2014/main" id="{BC86315A-3EDA-0B6E-9010-FB68CFD9A4AF}"/>
              </a:ext>
            </a:extLst>
          </p:cNvPr>
          <p:cNvSpPr/>
          <p:nvPr/>
        </p:nvSpPr>
        <p:spPr>
          <a:xfrm>
            <a:off x="7607808" y="3208109"/>
            <a:ext cx="123444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C0272D"/>
            </a:solidFill>
            <a:prstDash val="solid"/>
          </a:ln>
        </p:spPr>
      </p:sp>
      <p:sp>
        <p:nvSpPr>
          <p:cNvPr id="50" name="Text 52">
            <a:extLst>
              <a:ext uri="{FF2B5EF4-FFF2-40B4-BE49-F238E27FC236}">
                <a16:creationId xmlns:a16="http://schemas.microsoft.com/office/drawing/2014/main" id="{069122BA-247C-ADA3-A943-4CD17773CC1A}"/>
              </a:ext>
            </a:extLst>
          </p:cNvPr>
          <p:cNvSpPr/>
          <p:nvPr/>
        </p:nvSpPr>
        <p:spPr>
          <a:xfrm>
            <a:off x="7607808" y="3208109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Depreciation, Fraud</a:t>
            </a:r>
            <a:endParaRPr lang="en-US" sz="650" dirty="0"/>
          </a:p>
        </p:txBody>
      </p:sp>
      <p:sp>
        <p:nvSpPr>
          <p:cNvPr id="51" name="Shape 53">
            <a:extLst>
              <a:ext uri="{FF2B5EF4-FFF2-40B4-BE49-F238E27FC236}">
                <a16:creationId xmlns:a16="http://schemas.microsoft.com/office/drawing/2014/main" id="{6612395D-A7B1-7B4D-AFEE-C82D0E306A20}"/>
              </a:ext>
            </a:extLst>
          </p:cNvPr>
          <p:cNvSpPr/>
          <p:nvPr/>
        </p:nvSpPr>
        <p:spPr>
          <a:xfrm>
            <a:off x="4754880" y="3747605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54">
            <a:extLst>
              <a:ext uri="{FF2B5EF4-FFF2-40B4-BE49-F238E27FC236}">
                <a16:creationId xmlns:a16="http://schemas.microsoft.com/office/drawing/2014/main" id="{3AB98408-EE71-EE7F-D3F4-E299BB2AFD5A}"/>
              </a:ext>
            </a:extLst>
          </p:cNvPr>
          <p:cNvSpPr/>
          <p:nvPr/>
        </p:nvSpPr>
        <p:spPr>
          <a:xfrm>
            <a:off x="4754880" y="3747605"/>
            <a:ext cx="45720" cy="5486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3" name="Text 55">
            <a:extLst>
              <a:ext uri="{FF2B5EF4-FFF2-40B4-BE49-F238E27FC236}">
                <a16:creationId xmlns:a16="http://schemas.microsoft.com/office/drawing/2014/main" id="{D406214B-6A38-EDD4-1B20-893C6AE5E9F5}"/>
              </a:ext>
            </a:extLst>
          </p:cNvPr>
          <p:cNvSpPr/>
          <p:nvPr/>
        </p:nvSpPr>
        <p:spPr>
          <a:xfrm>
            <a:off x="4864608" y="3784181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Regulation</a:t>
            </a:r>
            <a:endParaRPr lang="en-US" sz="900" dirty="0"/>
          </a:p>
        </p:txBody>
      </p:sp>
      <p:sp>
        <p:nvSpPr>
          <p:cNvPr id="54" name="Text 56">
            <a:extLst>
              <a:ext uri="{FF2B5EF4-FFF2-40B4-BE49-F238E27FC236}">
                <a16:creationId xmlns:a16="http://schemas.microsoft.com/office/drawing/2014/main" id="{A1C32E23-8B11-C738-0E97-2C2080526176}"/>
              </a:ext>
            </a:extLst>
          </p:cNvPr>
          <p:cNvSpPr/>
          <p:nvPr/>
        </p:nvSpPr>
        <p:spPr>
          <a:xfrm>
            <a:off x="4864608" y="3985349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BS-VI reversed diesel's resale premium. Diesel now depreciates 21.9% vs Petrol's 18.0% over 2 years.</a:t>
            </a:r>
            <a:endParaRPr lang="en-US" sz="750" dirty="0"/>
          </a:p>
        </p:txBody>
      </p:sp>
      <p:sp>
        <p:nvSpPr>
          <p:cNvPr id="55" name="Shape 57">
            <a:extLst>
              <a:ext uri="{FF2B5EF4-FFF2-40B4-BE49-F238E27FC236}">
                <a16:creationId xmlns:a16="http://schemas.microsoft.com/office/drawing/2014/main" id="{04BC4035-40B8-9D98-246D-D05BFC440C07}"/>
              </a:ext>
            </a:extLst>
          </p:cNvPr>
          <p:cNvSpPr/>
          <p:nvPr/>
        </p:nvSpPr>
        <p:spPr>
          <a:xfrm>
            <a:off x="7607808" y="3820757"/>
            <a:ext cx="123444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C0272D"/>
            </a:solidFill>
            <a:prstDash val="solid"/>
          </a:ln>
        </p:spPr>
      </p:sp>
      <p:sp>
        <p:nvSpPr>
          <p:cNvPr id="56" name="Text 58">
            <a:extLst>
              <a:ext uri="{FF2B5EF4-FFF2-40B4-BE49-F238E27FC236}">
                <a16:creationId xmlns:a16="http://schemas.microsoft.com/office/drawing/2014/main" id="{AF7BD9EB-C300-DEC2-45E6-4B62F1D03D3D}"/>
              </a:ext>
            </a:extLst>
          </p:cNvPr>
          <p:cNvSpPr/>
          <p:nvPr/>
        </p:nvSpPr>
        <p:spPr>
          <a:xfrm>
            <a:off x="7607808" y="3820757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</a:t>
            </a:r>
            <a:endParaRPr lang="en-US" sz="650" dirty="0"/>
          </a:p>
        </p:txBody>
      </p:sp>
      <p:sp>
        <p:nvSpPr>
          <p:cNvPr id="57" name="Shape 59">
            <a:extLst>
              <a:ext uri="{FF2B5EF4-FFF2-40B4-BE49-F238E27FC236}">
                <a16:creationId xmlns:a16="http://schemas.microsoft.com/office/drawing/2014/main" id="{D4C59F3A-A900-E440-6765-1F195C110468}"/>
              </a:ext>
            </a:extLst>
          </p:cNvPr>
          <p:cNvSpPr/>
          <p:nvPr/>
        </p:nvSpPr>
        <p:spPr>
          <a:xfrm>
            <a:off x="4754880" y="4360253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8" name="Shape 60">
            <a:extLst>
              <a:ext uri="{FF2B5EF4-FFF2-40B4-BE49-F238E27FC236}">
                <a16:creationId xmlns:a16="http://schemas.microsoft.com/office/drawing/2014/main" id="{15344382-F957-358E-A3EB-F54E956DD375}"/>
              </a:ext>
            </a:extLst>
          </p:cNvPr>
          <p:cNvSpPr/>
          <p:nvPr/>
        </p:nvSpPr>
        <p:spPr>
          <a:xfrm>
            <a:off x="4754880" y="4360253"/>
            <a:ext cx="45720" cy="5486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9" name="Text 61">
            <a:extLst>
              <a:ext uri="{FF2B5EF4-FFF2-40B4-BE49-F238E27FC236}">
                <a16:creationId xmlns:a16="http://schemas.microsoft.com/office/drawing/2014/main" id="{B1049E97-EB97-14A6-C816-29DBD333AB5B}"/>
              </a:ext>
            </a:extLst>
          </p:cNvPr>
          <p:cNvSpPr/>
          <p:nvPr/>
        </p:nvSpPr>
        <p:spPr>
          <a:xfrm>
            <a:off x="4864608" y="4396829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Tier Pricing</a:t>
            </a:r>
            <a:endParaRPr lang="en-US" sz="900" dirty="0"/>
          </a:p>
        </p:txBody>
      </p:sp>
      <p:sp>
        <p:nvSpPr>
          <p:cNvPr id="60" name="Text 62">
            <a:extLst>
              <a:ext uri="{FF2B5EF4-FFF2-40B4-BE49-F238E27FC236}">
                <a16:creationId xmlns:a16="http://schemas.microsoft.com/office/drawing/2014/main" id="{A7984FAE-79EE-FB25-0F95-A410F7EE1CF1}"/>
              </a:ext>
            </a:extLst>
          </p:cNvPr>
          <p:cNvSpPr/>
          <p:nvPr/>
        </p:nvSpPr>
        <p:spPr>
          <a:xfrm>
            <a:off x="4864608" y="4597997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labour rates 20–30% above Tier-2. Maharashtra holds ~35% of India's market. Baked into price &amp; maintenance.</a:t>
            </a:r>
            <a:endParaRPr lang="en-US" sz="750" dirty="0"/>
          </a:p>
        </p:txBody>
      </p:sp>
      <p:sp>
        <p:nvSpPr>
          <p:cNvPr id="61" name="Shape 63">
            <a:extLst>
              <a:ext uri="{FF2B5EF4-FFF2-40B4-BE49-F238E27FC236}">
                <a16:creationId xmlns:a16="http://schemas.microsoft.com/office/drawing/2014/main" id="{326246F1-2CD8-1A3A-5E24-8A8501F45A93}"/>
              </a:ext>
            </a:extLst>
          </p:cNvPr>
          <p:cNvSpPr/>
          <p:nvPr/>
        </p:nvSpPr>
        <p:spPr>
          <a:xfrm>
            <a:off x="7607808" y="4433405"/>
            <a:ext cx="123444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C0272D"/>
            </a:solidFill>
            <a:prstDash val="solid"/>
          </a:ln>
        </p:spPr>
      </p:sp>
      <p:sp>
        <p:nvSpPr>
          <p:cNvPr id="62" name="Text 64">
            <a:extLst>
              <a:ext uri="{FF2B5EF4-FFF2-40B4-BE49-F238E27FC236}">
                <a16:creationId xmlns:a16="http://schemas.microsoft.com/office/drawing/2014/main" id="{7C053DD4-D681-A856-846C-BD2502595821}"/>
              </a:ext>
            </a:extLst>
          </p:cNvPr>
          <p:cNvSpPr/>
          <p:nvPr/>
        </p:nvSpPr>
        <p:spPr>
          <a:xfrm>
            <a:off x="7607808" y="4433405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Maintenance</a:t>
            </a:r>
            <a:endParaRPr lang="en-US" sz="650" dirty="0"/>
          </a:p>
        </p:txBody>
      </p:sp>
      <p:sp>
        <p:nvSpPr>
          <p:cNvPr id="63" name="Shape 65">
            <a:extLst>
              <a:ext uri="{FF2B5EF4-FFF2-40B4-BE49-F238E27FC236}">
                <a16:creationId xmlns:a16="http://schemas.microsoft.com/office/drawing/2014/main" id="{A5F84F6F-E44E-04C2-FA77-7D967BB97099}"/>
              </a:ext>
            </a:extLst>
          </p:cNvPr>
          <p:cNvSpPr/>
          <p:nvPr/>
        </p:nvSpPr>
        <p:spPr>
          <a:xfrm>
            <a:off x="4754880" y="4972901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4" name="Shape 66">
            <a:extLst>
              <a:ext uri="{FF2B5EF4-FFF2-40B4-BE49-F238E27FC236}">
                <a16:creationId xmlns:a16="http://schemas.microsoft.com/office/drawing/2014/main" id="{3E60433D-283A-20E8-56FD-D7B7E0136B1E}"/>
              </a:ext>
            </a:extLst>
          </p:cNvPr>
          <p:cNvSpPr/>
          <p:nvPr/>
        </p:nvSpPr>
        <p:spPr>
          <a:xfrm>
            <a:off x="4754880" y="4972901"/>
            <a:ext cx="45720" cy="5486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5" name="Text 67">
            <a:extLst>
              <a:ext uri="{FF2B5EF4-FFF2-40B4-BE49-F238E27FC236}">
                <a16:creationId xmlns:a16="http://schemas.microsoft.com/office/drawing/2014/main" id="{B8FA2216-B0A6-2EC5-121F-0D9DECB20168}"/>
              </a:ext>
            </a:extLst>
          </p:cNvPr>
          <p:cNvSpPr/>
          <p:nvPr/>
        </p:nvSpPr>
        <p:spPr>
          <a:xfrm>
            <a:off x="4864608" y="5009477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Count Signal</a:t>
            </a:r>
            <a:endParaRPr lang="en-US" sz="900" dirty="0"/>
          </a:p>
        </p:txBody>
      </p:sp>
      <p:sp>
        <p:nvSpPr>
          <p:cNvPr id="66" name="Text 68">
            <a:extLst>
              <a:ext uri="{FF2B5EF4-FFF2-40B4-BE49-F238E27FC236}">
                <a16:creationId xmlns:a16="http://schemas.microsoft.com/office/drawing/2014/main" id="{130B0C8F-5697-98FC-818A-5A99592EB5E9}"/>
              </a:ext>
            </a:extLst>
          </p:cNvPr>
          <p:cNvSpPr/>
          <p:nvPr/>
        </p:nvSpPr>
        <p:spPr>
          <a:xfrm>
            <a:off x="4864608" y="5210645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First-owner vehicles command 8–15% premium in India — culturally stronger than any global market.</a:t>
            </a:r>
            <a:endParaRPr lang="en-US" sz="750" dirty="0"/>
          </a:p>
        </p:txBody>
      </p:sp>
      <p:sp>
        <p:nvSpPr>
          <p:cNvPr id="67" name="Shape 69">
            <a:extLst>
              <a:ext uri="{FF2B5EF4-FFF2-40B4-BE49-F238E27FC236}">
                <a16:creationId xmlns:a16="http://schemas.microsoft.com/office/drawing/2014/main" id="{8A997EA6-3440-DF4A-A8F9-20FAD7840BE1}"/>
              </a:ext>
            </a:extLst>
          </p:cNvPr>
          <p:cNvSpPr/>
          <p:nvPr/>
        </p:nvSpPr>
        <p:spPr>
          <a:xfrm>
            <a:off x="7607808" y="5046053"/>
            <a:ext cx="123444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C0272D"/>
            </a:solidFill>
            <a:prstDash val="solid"/>
          </a:ln>
        </p:spPr>
      </p:sp>
      <p:sp>
        <p:nvSpPr>
          <p:cNvPr id="68" name="Text 70">
            <a:extLst>
              <a:ext uri="{FF2B5EF4-FFF2-40B4-BE49-F238E27FC236}">
                <a16:creationId xmlns:a16="http://schemas.microsoft.com/office/drawing/2014/main" id="{088A06A0-5C55-91E6-2ECE-E8A58427DD29}"/>
              </a:ext>
            </a:extLst>
          </p:cNvPr>
          <p:cNvSpPr/>
          <p:nvPr/>
        </p:nvSpPr>
        <p:spPr>
          <a:xfrm>
            <a:off x="7607808" y="5046053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Depreciation</a:t>
            </a:r>
            <a:endParaRPr lang="en-US" sz="650" dirty="0"/>
          </a:p>
        </p:txBody>
      </p:sp>
      <p:sp>
        <p:nvSpPr>
          <p:cNvPr id="69" name="Shape 71">
            <a:extLst>
              <a:ext uri="{FF2B5EF4-FFF2-40B4-BE49-F238E27FC236}">
                <a16:creationId xmlns:a16="http://schemas.microsoft.com/office/drawing/2014/main" id="{F22F0B1E-B341-012A-83F9-7A3AEE74F71A}"/>
              </a:ext>
            </a:extLst>
          </p:cNvPr>
          <p:cNvSpPr/>
          <p:nvPr/>
        </p:nvSpPr>
        <p:spPr>
          <a:xfrm>
            <a:off x="4754880" y="5585549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0" name="Shape 72">
            <a:extLst>
              <a:ext uri="{FF2B5EF4-FFF2-40B4-BE49-F238E27FC236}">
                <a16:creationId xmlns:a16="http://schemas.microsoft.com/office/drawing/2014/main" id="{793A182D-B0B2-404A-B292-9533C46BE82D}"/>
              </a:ext>
            </a:extLst>
          </p:cNvPr>
          <p:cNvSpPr/>
          <p:nvPr/>
        </p:nvSpPr>
        <p:spPr>
          <a:xfrm>
            <a:off x="4754880" y="5585549"/>
            <a:ext cx="45720" cy="5486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71" name="Text 73">
            <a:extLst>
              <a:ext uri="{FF2B5EF4-FFF2-40B4-BE49-F238E27FC236}">
                <a16:creationId xmlns:a16="http://schemas.microsoft.com/office/drawing/2014/main" id="{4FB1E9B3-2495-C776-F32E-2327E5C1FC1C}"/>
              </a:ext>
            </a:extLst>
          </p:cNvPr>
          <p:cNvSpPr/>
          <p:nvPr/>
        </p:nvSpPr>
        <p:spPr>
          <a:xfrm>
            <a:off x="4864608" y="5622125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Condition Ratio</a:t>
            </a:r>
            <a:endParaRPr lang="en-US" sz="900" dirty="0"/>
          </a:p>
        </p:txBody>
      </p:sp>
      <p:sp>
        <p:nvSpPr>
          <p:cNvPr id="72" name="Text 74">
            <a:extLst>
              <a:ext uri="{FF2B5EF4-FFF2-40B4-BE49-F238E27FC236}">
                <a16:creationId xmlns:a16="http://schemas.microsoft.com/office/drawing/2014/main" id="{787CBA95-4D9B-C11F-9BDD-F4BB5BC5F85C}"/>
              </a:ext>
            </a:extLst>
          </p:cNvPr>
          <p:cNvSpPr/>
          <p:nvPr/>
        </p:nvSpPr>
        <p:spPr>
          <a:xfrm>
            <a:off x="4864608" y="5823293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normalised to expected annual usage for vehicle age — producing age-relative wear estimation.</a:t>
            </a:r>
            <a:endParaRPr lang="en-US" sz="750" dirty="0"/>
          </a:p>
        </p:txBody>
      </p:sp>
      <p:sp>
        <p:nvSpPr>
          <p:cNvPr id="73" name="Shape 75">
            <a:extLst>
              <a:ext uri="{FF2B5EF4-FFF2-40B4-BE49-F238E27FC236}">
                <a16:creationId xmlns:a16="http://schemas.microsoft.com/office/drawing/2014/main" id="{A613F263-4B28-FAD4-F275-47145794D997}"/>
              </a:ext>
            </a:extLst>
          </p:cNvPr>
          <p:cNvSpPr/>
          <p:nvPr/>
        </p:nvSpPr>
        <p:spPr>
          <a:xfrm>
            <a:off x="7607808" y="5658701"/>
            <a:ext cx="123444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C0272D"/>
            </a:solidFill>
            <a:prstDash val="solid"/>
          </a:ln>
        </p:spPr>
      </p:sp>
      <p:sp>
        <p:nvSpPr>
          <p:cNvPr id="74" name="Text 76">
            <a:extLst>
              <a:ext uri="{FF2B5EF4-FFF2-40B4-BE49-F238E27FC236}">
                <a16:creationId xmlns:a16="http://schemas.microsoft.com/office/drawing/2014/main" id="{B69BC767-D79B-6176-6F58-6D0891804E99}"/>
              </a:ext>
            </a:extLst>
          </p:cNvPr>
          <p:cNvSpPr/>
          <p:nvPr/>
        </p:nvSpPr>
        <p:spPr>
          <a:xfrm>
            <a:off x="7607808" y="5658701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53908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C55D-C7BC-24E6-CE0E-A03206417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9CA8-64B0-508A-DB14-FE46476F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Details – System Architecture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317A4-D749-9225-97EF-77FF8166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EFD2B-C587-A1FB-FF97-667470D4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8</a:t>
            </a:fld>
            <a:endParaRPr lang="en-US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A84BFD6E-C640-CDA2-BAB4-5A24D9DED649}"/>
              </a:ext>
            </a:extLst>
          </p:cNvPr>
          <p:cNvSpPr/>
          <p:nvPr/>
        </p:nvSpPr>
        <p:spPr>
          <a:xfrm>
            <a:off x="365760" y="212911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Architecture Overview</a:t>
            </a:r>
            <a:endParaRPr lang="en-US" sz="1300" dirty="0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B484D1AC-ECBA-7D35-D59B-03031A27B932}"/>
              </a:ext>
            </a:extLst>
          </p:cNvPr>
          <p:cNvSpPr/>
          <p:nvPr/>
        </p:nvSpPr>
        <p:spPr>
          <a:xfrm>
            <a:off x="274320" y="2476589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96467AFD-C178-C08C-B729-B61D9DDD6649}"/>
              </a:ext>
            </a:extLst>
          </p:cNvPr>
          <p:cNvSpPr/>
          <p:nvPr/>
        </p:nvSpPr>
        <p:spPr>
          <a:xfrm>
            <a:off x="274320" y="2476589"/>
            <a:ext cx="14630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8310CD23-5789-7719-6BFB-327921582D80}"/>
              </a:ext>
            </a:extLst>
          </p:cNvPr>
          <p:cNvSpPr/>
          <p:nvPr/>
        </p:nvSpPr>
        <p:spPr>
          <a:xfrm>
            <a:off x="292608" y="2522309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8A62BBF4-DF53-A4AC-C7B6-DCF9ED1FAFE7}"/>
              </a:ext>
            </a:extLst>
          </p:cNvPr>
          <p:cNvSpPr/>
          <p:nvPr/>
        </p:nvSpPr>
        <p:spPr>
          <a:xfrm>
            <a:off x="274320" y="2732621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800" dirty="0"/>
          </a:p>
        </p:txBody>
      </p:sp>
      <p:sp>
        <p:nvSpPr>
          <p:cNvPr id="77" name="Text 15">
            <a:extLst>
              <a:ext uri="{FF2B5EF4-FFF2-40B4-BE49-F238E27FC236}">
                <a16:creationId xmlns:a16="http://schemas.microsoft.com/office/drawing/2014/main" id="{8E2F3000-DA69-858C-5952-E6CCD007BB87}"/>
              </a:ext>
            </a:extLst>
          </p:cNvPr>
          <p:cNvSpPr/>
          <p:nvPr/>
        </p:nvSpPr>
        <p:spPr>
          <a:xfrm>
            <a:off x="1874520" y="253145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</a:t>
            </a:r>
            <a:endParaRPr lang="en-US" sz="8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689691FE-5C71-90FD-7211-DB3C7A346AC4}"/>
              </a:ext>
            </a:extLst>
          </p:cNvPr>
          <p:cNvSpPr/>
          <p:nvPr/>
        </p:nvSpPr>
        <p:spPr>
          <a:xfrm>
            <a:off x="2971800" y="2531453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Attributes (brand, model, year, mileage, fuel, transmission, owner count, city tier)</a:t>
            </a:r>
            <a:endParaRPr lang="en-US" sz="850" dirty="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B3667F3E-369F-1E1D-8CC9-D481ADDE926B}"/>
              </a:ext>
            </a:extLst>
          </p:cNvPr>
          <p:cNvSpPr/>
          <p:nvPr/>
        </p:nvSpPr>
        <p:spPr>
          <a:xfrm>
            <a:off x="1874520" y="287892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800" dirty="0"/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FB0251E9-9907-88BD-94A5-C6DE4084F019}"/>
              </a:ext>
            </a:extLst>
          </p:cNvPr>
          <p:cNvSpPr/>
          <p:nvPr/>
        </p:nvSpPr>
        <p:spPr>
          <a:xfrm>
            <a:off x="2971800" y="2878925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· Format normalisation · Image format check</a:t>
            </a:r>
            <a:endParaRPr lang="en-US" sz="850" dirty="0"/>
          </a:p>
        </p:txBody>
      </p:sp>
      <p:sp>
        <p:nvSpPr>
          <p:cNvPr id="81" name="Shape 19">
            <a:extLst>
              <a:ext uri="{FF2B5EF4-FFF2-40B4-BE49-F238E27FC236}">
                <a16:creationId xmlns:a16="http://schemas.microsoft.com/office/drawing/2014/main" id="{EBEF7A3C-3760-9B26-5726-EC4557D7FDDE}"/>
              </a:ext>
            </a:extLst>
          </p:cNvPr>
          <p:cNvSpPr/>
          <p:nvPr/>
        </p:nvSpPr>
        <p:spPr>
          <a:xfrm>
            <a:off x="4297680" y="3226397"/>
            <a:ext cx="548640" cy="11887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2" name="Text 20">
            <a:extLst>
              <a:ext uri="{FF2B5EF4-FFF2-40B4-BE49-F238E27FC236}">
                <a16:creationId xmlns:a16="http://schemas.microsoft.com/office/drawing/2014/main" id="{2E770D63-AB70-43A9-178C-C62463C72473}"/>
              </a:ext>
            </a:extLst>
          </p:cNvPr>
          <p:cNvSpPr/>
          <p:nvPr/>
        </p:nvSpPr>
        <p:spPr>
          <a:xfrm>
            <a:off x="4206240" y="3226397"/>
            <a:ext cx="7315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3" name="Shape 21">
            <a:extLst>
              <a:ext uri="{FF2B5EF4-FFF2-40B4-BE49-F238E27FC236}">
                <a16:creationId xmlns:a16="http://schemas.microsoft.com/office/drawing/2014/main" id="{0DB25729-EB39-7B39-F4E5-D54039A47BAF}"/>
              </a:ext>
            </a:extLst>
          </p:cNvPr>
          <p:cNvSpPr/>
          <p:nvPr/>
        </p:nvSpPr>
        <p:spPr>
          <a:xfrm>
            <a:off x="274320" y="3345269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4" name="Shape 22">
            <a:extLst>
              <a:ext uri="{FF2B5EF4-FFF2-40B4-BE49-F238E27FC236}">
                <a16:creationId xmlns:a16="http://schemas.microsoft.com/office/drawing/2014/main" id="{053BD0E4-2E96-539E-8794-89247B82A511}"/>
              </a:ext>
            </a:extLst>
          </p:cNvPr>
          <p:cNvSpPr/>
          <p:nvPr/>
        </p:nvSpPr>
        <p:spPr>
          <a:xfrm>
            <a:off x="274320" y="3345269"/>
            <a:ext cx="14630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5" name="Text 23">
            <a:extLst>
              <a:ext uri="{FF2B5EF4-FFF2-40B4-BE49-F238E27FC236}">
                <a16:creationId xmlns:a16="http://schemas.microsoft.com/office/drawing/2014/main" id="{BE956EC3-E6E7-7526-1101-B5329A18D4CD}"/>
              </a:ext>
            </a:extLst>
          </p:cNvPr>
          <p:cNvSpPr/>
          <p:nvPr/>
        </p:nvSpPr>
        <p:spPr>
          <a:xfrm>
            <a:off x="292608" y="3390989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C2C5967D-F346-715F-2BAC-15A63CC27C58}"/>
              </a:ext>
            </a:extLst>
          </p:cNvPr>
          <p:cNvSpPr/>
          <p:nvPr/>
        </p:nvSpPr>
        <p:spPr>
          <a:xfrm>
            <a:off x="274320" y="3601301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800" dirty="0"/>
          </a:p>
        </p:txBody>
      </p:sp>
      <p:sp>
        <p:nvSpPr>
          <p:cNvPr id="87" name="Text 25">
            <a:extLst>
              <a:ext uri="{FF2B5EF4-FFF2-40B4-BE49-F238E27FC236}">
                <a16:creationId xmlns:a16="http://schemas.microsoft.com/office/drawing/2014/main" id="{46FF57C9-5F9A-6D0D-3360-9023F27AF6EA}"/>
              </a:ext>
            </a:extLst>
          </p:cNvPr>
          <p:cNvSpPr/>
          <p:nvPr/>
        </p:nvSpPr>
        <p:spPr>
          <a:xfrm>
            <a:off x="1874520" y="340013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</a:t>
            </a:r>
            <a:endParaRPr lang="en-US" sz="800" dirty="0"/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DE99FA2C-E26F-CE95-3478-DF80D3F4A757}"/>
              </a:ext>
            </a:extLst>
          </p:cNvPr>
          <p:cNvSpPr/>
          <p:nvPr/>
        </p:nvSpPr>
        <p:spPr>
          <a:xfrm>
            <a:off x="2971800" y="3400133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 · ColumnTransformer (Scikit-learn) · StandardScaler · OrdinalEncoder</a:t>
            </a:r>
            <a:endParaRPr lang="en-US" sz="850" dirty="0"/>
          </a:p>
        </p:txBody>
      </p:sp>
      <p:sp>
        <p:nvSpPr>
          <p:cNvPr id="89" name="Text 27">
            <a:extLst>
              <a:ext uri="{FF2B5EF4-FFF2-40B4-BE49-F238E27FC236}">
                <a16:creationId xmlns:a16="http://schemas.microsoft.com/office/drawing/2014/main" id="{37F33646-37BB-DB1B-98F1-20E7A36FAD78}"/>
              </a:ext>
            </a:extLst>
          </p:cNvPr>
          <p:cNvSpPr/>
          <p:nvPr/>
        </p:nvSpPr>
        <p:spPr>
          <a:xfrm>
            <a:off x="1874520" y="374760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800" dirty="0"/>
          </a:p>
        </p:txBody>
      </p:sp>
      <p:sp>
        <p:nvSpPr>
          <p:cNvPr id="90" name="Text 28">
            <a:extLst>
              <a:ext uri="{FF2B5EF4-FFF2-40B4-BE49-F238E27FC236}">
                <a16:creationId xmlns:a16="http://schemas.microsoft.com/office/drawing/2014/main" id="{D27EC80E-803A-1620-C8B5-09C7327E74B5}"/>
              </a:ext>
            </a:extLst>
          </p:cNvPr>
          <p:cNvSpPr/>
          <p:nvPr/>
        </p:nvSpPr>
        <p:spPr>
          <a:xfrm>
            <a:off x="2971800" y="3747605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class encoding · Vehicle age derivation · Mileage band assignment · Regulatory risk score computation</a:t>
            </a:r>
            <a:endParaRPr lang="en-US" sz="850" dirty="0"/>
          </a:p>
        </p:txBody>
      </p:sp>
      <p:sp>
        <p:nvSpPr>
          <p:cNvPr id="91" name="Shape 29">
            <a:extLst>
              <a:ext uri="{FF2B5EF4-FFF2-40B4-BE49-F238E27FC236}">
                <a16:creationId xmlns:a16="http://schemas.microsoft.com/office/drawing/2014/main" id="{881B80B1-5E70-636F-DA37-945D01E50520}"/>
              </a:ext>
            </a:extLst>
          </p:cNvPr>
          <p:cNvSpPr/>
          <p:nvPr/>
        </p:nvSpPr>
        <p:spPr>
          <a:xfrm>
            <a:off x="4297680" y="4095077"/>
            <a:ext cx="548640" cy="11887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2" name="Text 30">
            <a:extLst>
              <a:ext uri="{FF2B5EF4-FFF2-40B4-BE49-F238E27FC236}">
                <a16:creationId xmlns:a16="http://schemas.microsoft.com/office/drawing/2014/main" id="{35C7465E-350C-8AA1-6EF1-BD9296EF4D9F}"/>
              </a:ext>
            </a:extLst>
          </p:cNvPr>
          <p:cNvSpPr/>
          <p:nvPr/>
        </p:nvSpPr>
        <p:spPr>
          <a:xfrm>
            <a:off x="4206240" y="4095077"/>
            <a:ext cx="7315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93" name="Shape 31">
            <a:extLst>
              <a:ext uri="{FF2B5EF4-FFF2-40B4-BE49-F238E27FC236}">
                <a16:creationId xmlns:a16="http://schemas.microsoft.com/office/drawing/2014/main" id="{62B1E618-F52E-A56F-F7E3-70113537FF4E}"/>
              </a:ext>
            </a:extLst>
          </p:cNvPr>
          <p:cNvSpPr/>
          <p:nvPr/>
        </p:nvSpPr>
        <p:spPr>
          <a:xfrm>
            <a:off x="274320" y="4213949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0272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4" name="Shape 32">
            <a:extLst>
              <a:ext uri="{FF2B5EF4-FFF2-40B4-BE49-F238E27FC236}">
                <a16:creationId xmlns:a16="http://schemas.microsoft.com/office/drawing/2014/main" id="{DE9AB3A8-EB24-E7DE-738B-AE2F8087F01C}"/>
              </a:ext>
            </a:extLst>
          </p:cNvPr>
          <p:cNvSpPr/>
          <p:nvPr/>
        </p:nvSpPr>
        <p:spPr>
          <a:xfrm>
            <a:off x="274320" y="4213949"/>
            <a:ext cx="1463040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95" name="Text 33">
            <a:extLst>
              <a:ext uri="{FF2B5EF4-FFF2-40B4-BE49-F238E27FC236}">
                <a16:creationId xmlns:a16="http://schemas.microsoft.com/office/drawing/2014/main" id="{7796BAC7-7351-604C-9834-CA2603094C1C}"/>
              </a:ext>
            </a:extLst>
          </p:cNvPr>
          <p:cNvSpPr/>
          <p:nvPr/>
        </p:nvSpPr>
        <p:spPr>
          <a:xfrm>
            <a:off x="292608" y="4259669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CE8FFDEB-E727-430E-BC72-B3BBCD791424}"/>
              </a:ext>
            </a:extLst>
          </p:cNvPr>
          <p:cNvSpPr/>
          <p:nvPr/>
        </p:nvSpPr>
        <p:spPr>
          <a:xfrm>
            <a:off x="274320" y="4469981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LAYER (5 AI MODULES)</a:t>
            </a:r>
            <a:endParaRPr lang="en-US" sz="800" dirty="0"/>
          </a:p>
        </p:txBody>
      </p:sp>
      <p:sp>
        <p:nvSpPr>
          <p:cNvPr id="97" name="Text 35">
            <a:extLst>
              <a:ext uri="{FF2B5EF4-FFF2-40B4-BE49-F238E27FC236}">
                <a16:creationId xmlns:a16="http://schemas.microsoft.com/office/drawing/2014/main" id="{28F4B37E-66CF-2B96-3FAF-CF3EDC0B4213}"/>
              </a:ext>
            </a:extLst>
          </p:cNvPr>
          <p:cNvSpPr/>
          <p:nvPr/>
        </p:nvSpPr>
        <p:spPr>
          <a:xfrm>
            <a:off x="1874520" y="426881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</a:t>
            </a:r>
            <a:endParaRPr lang="en-US" sz="800" dirty="0"/>
          </a:p>
        </p:txBody>
      </p:sp>
      <p:sp>
        <p:nvSpPr>
          <p:cNvPr id="98" name="Text 36">
            <a:extLst>
              <a:ext uri="{FF2B5EF4-FFF2-40B4-BE49-F238E27FC236}">
                <a16:creationId xmlns:a16="http://schemas.microsoft.com/office/drawing/2014/main" id="{6DBC5A69-94A9-CFAD-5A01-C8EE067BAA2E}"/>
              </a:ext>
            </a:extLst>
          </p:cNvPr>
          <p:cNvSpPr/>
          <p:nvPr/>
        </p:nvSpPr>
        <p:spPr>
          <a:xfrm>
            <a:off x="2971800" y="4268813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(RF) · Maintenance Forecasting (HGB) · Depreciation (RF) · Condition (OpenCV) · Fraud (Dual-threshold)</a:t>
            </a:r>
            <a:endParaRPr lang="en-US" sz="850" dirty="0"/>
          </a:p>
        </p:txBody>
      </p:sp>
      <p:sp>
        <p:nvSpPr>
          <p:cNvPr id="99" name="Text 37">
            <a:extLst>
              <a:ext uri="{FF2B5EF4-FFF2-40B4-BE49-F238E27FC236}">
                <a16:creationId xmlns:a16="http://schemas.microsoft.com/office/drawing/2014/main" id="{FD5C0FC3-6056-F2F5-8B5E-95C9083F57F3}"/>
              </a:ext>
            </a:extLst>
          </p:cNvPr>
          <p:cNvSpPr/>
          <p:nvPr/>
        </p:nvSpPr>
        <p:spPr>
          <a:xfrm>
            <a:off x="1874520" y="461628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800" dirty="0"/>
          </a:p>
        </p:txBody>
      </p:sp>
      <p:sp>
        <p:nvSpPr>
          <p:cNvPr id="100" name="Text 38">
            <a:extLst>
              <a:ext uri="{FF2B5EF4-FFF2-40B4-BE49-F238E27FC236}">
                <a16:creationId xmlns:a16="http://schemas.microsoft.com/office/drawing/2014/main" id="{BE72B106-BBCE-EBDA-F55E-53689CE6B44D}"/>
              </a:ext>
            </a:extLst>
          </p:cNvPr>
          <p:cNvSpPr/>
          <p:nvPr/>
        </p:nvSpPr>
        <p:spPr>
          <a:xfrm>
            <a:off x="2971800" y="4616285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on engineered feature vectors · OpenCV image pipeline · Combined latency 180–410ms</a:t>
            </a:r>
            <a:endParaRPr lang="en-US" sz="850" dirty="0"/>
          </a:p>
        </p:txBody>
      </p:sp>
      <p:sp>
        <p:nvSpPr>
          <p:cNvPr id="101" name="Shape 39">
            <a:extLst>
              <a:ext uri="{FF2B5EF4-FFF2-40B4-BE49-F238E27FC236}">
                <a16:creationId xmlns:a16="http://schemas.microsoft.com/office/drawing/2014/main" id="{0CCA0B0B-D663-3C91-585F-E3F1BC942E82}"/>
              </a:ext>
            </a:extLst>
          </p:cNvPr>
          <p:cNvSpPr/>
          <p:nvPr/>
        </p:nvSpPr>
        <p:spPr>
          <a:xfrm>
            <a:off x="4297680" y="4963757"/>
            <a:ext cx="548640" cy="11887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2" name="Text 40">
            <a:extLst>
              <a:ext uri="{FF2B5EF4-FFF2-40B4-BE49-F238E27FC236}">
                <a16:creationId xmlns:a16="http://schemas.microsoft.com/office/drawing/2014/main" id="{14C5BE44-0CC0-D096-B6A6-6FE5F6FA7DD3}"/>
              </a:ext>
            </a:extLst>
          </p:cNvPr>
          <p:cNvSpPr/>
          <p:nvPr/>
        </p:nvSpPr>
        <p:spPr>
          <a:xfrm>
            <a:off x="4206240" y="4963757"/>
            <a:ext cx="7315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D7DED4E7-6546-F175-BD0D-ADEE7665FBD4}"/>
              </a:ext>
            </a:extLst>
          </p:cNvPr>
          <p:cNvSpPr/>
          <p:nvPr/>
        </p:nvSpPr>
        <p:spPr>
          <a:xfrm>
            <a:off x="274320" y="5082629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4" name="Shape 42">
            <a:extLst>
              <a:ext uri="{FF2B5EF4-FFF2-40B4-BE49-F238E27FC236}">
                <a16:creationId xmlns:a16="http://schemas.microsoft.com/office/drawing/2014/main" id="{64C3247A-6EA3-51FA-9FB8-1F6E4EDE6D9A}"/>
              </a:ext>
            </a:extLst>
          </p:cNvPr>
          <p:cNvSpPr/>
          <p:nvPr/>
        </p:nvSpPr>
        <p:spPr>
          <a:xfrm>
            <a:off x="274320" y="5082629"/>
            <a:ext cx="1463040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5" name="Text 43">
            <a:extLst>
              <a:ext uri="{FF2B5EF4-FFF2-40B4-BE49-F238E27FC236}">
                <a16:creationId xmlns:a16="http://schemas.microsoft.com/office/drawing/2014/main" id="{FFEDB2A6-A35E-165D-C2D3-F775CEE80E8C}"/>
              </a:ext>
            </a:extLst>
          </p:cNvPr>
          <p:cNvSpPr/>
          <p:nvPr/>
        </p:nvSpPr>
        <p:spPr>
          <a:xfrm>
            <a:off x="292608" y="5128349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800" dirty="0"/>
          </a:p>
        </p:txBody>
      </p:sp>
      <p:sp>
        <p:nvSpPr>
          <p:cNvPr id="106" name="Text 44">
            <a:extLst>
              <a:ext uri="{FF2B5EF4-FFF2-40B4-BE49-F238E27FC236}">
                <a16:creationId xmlns:a16="http://schemas.microsoft.com/office/drawing/2014/main" id="{D243450F-50A9-101D-4F95-BCEB86E3F900}"/>
              </a:ext>
            </a:extLst>
          </p:cNvPr>
          <p:cNvSpPr/>
          <p:nvPr/>
        </p:nvSpPr>
        <p:spPr>
          <a:xfrm>
            <a:off x="274320" y="5338661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800" dirty="0"/>
          </a:p>
        </p:txBody>
      </p:sp>
      <p:sp>
        <p:nvSpPr>
          <p:cNvPr id="107" name="Text 45">
            <a:extLst>
              <a:ext uri="{FF2B5EF4-FFF2-40B4-BE49-F238E27FC236}">
                <a16:creationId xmlns:a16="http://schemas.microsoft.com/office/drawing/2014/main" id="{237E98BE-43D3-9658-47B7-D7031A2C36F5}"/>
              </a:ext>
            </a:extLst>
          </p:cNvPr>
          <p:cNvSpPr/>
          <p:nvPr/>
        </p:nvSpPr>
        <p:spPr>
          <a:xfrm>
            <a:off x="1874520" y="513749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</a:t>
            </a:r>
            <a:endParaRPr lang="en-US" sz="800" dirty="0"/>
          </a:p>
        </p:txBody>
      </p:sp>
      <p:sp>
        <p:nvSpPr>
          <p:cNvPr id="108" name="Text 46">
            <a:extLst>
              <a:ext uri="{FF2B5EF4-FFF2-40B4-BE49-F238E27FC236}">
                <a16:creationId xmlns:a16="http://schemas.microsoft.com/office/drawing/2014/main" id="{BB3548D3-A4EA-36D0-F049-85EE73A1B2DA}"/>
              </a:ext>
            </a:extLst>
          </p:cNvPr>
          <p:cNvSpPr/>
          <p:nvPr/>
        </p:nvSpPr>
        <p:spPr>
          <a:xfrm>
            <a:off x="2971800" y="5137493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Card · Price Trend Label · Condition Badge · Fraud Alert · Recommendations (CBF)</a:t>
            </a:r>
            <a:endParaRPr lang="en-US" sz="850" dirty="0"/>
          </a:p>
        </p:txBody>
      </p:sp>
      <p:sp>
        <p:nvSpPr>
          <p:cNvPr id="109" name="Text 47">
            <a:extLst>
              <a:ext uri="{FF2B5EF4-FFF2-40B4-BE49-F238E27FC236}">
                <a16:creationId xmlns:a16="http://schemas.microsoft.com/office/drawing/2014/main" id="{BD18FA99-A6C6-5297-1E3A-671AEB62A6DD}"/>
              </a:ext>
            </a:extLst>
          </p:cNvPr>
          <p:cNvSpPr/>
          <p:nvPr/>
        </p:nvSpPr>
        <p:spPr>
          <a:xfrm>
            <a:off x="1874520" y="548496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800" dirty="0"/>
          </a:p>
        </p:txBody>
      </p:sp>
      <p:sp>
        <p:nvSpPr>
          <p:cNvPr id="110" name="Text 48">
            <a:extLst>
              <a:ext uri="{FF2B5EF4-FFF2-40B4-BE49-F238E27FC236}">
                <a16:creationId xmlns:a16="http://schemas.microsoft.com/office/drawing/2014/main" id="{4DAD625A-C5C0-A053-7B11-3D9EC8FB1B11}"/>
              </a:ext>
            </a:extLst>
          </p:cNvPr>
          <p:cNvSpPr/>
          <p:nvPr/>
        </p:nvSpPr>
        <p:spPr>
          <a:xfrm>
            <a:off x="2971800" y="5484965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aggregation · Plain-language insight generation · TF-IDF cosine similarity recommendations</a:t>
            </a:r>
            <a:endParaRPr lang="en-US" sz="850" dirty="0"/>
          </a:p>
        </p:txBody>
      </p:sp>
      <p:sp>
        <p:nvSpPr>
          <p:cNvPr id="111" name="Shape 49">
            <a:extLst>
              <a:ext uri="{FF2B5EF4-FFF2-40B4-BE49-F238E27FC236}">
                <a16:creationId xmlns:a16="http://schemas.microsoft.com/office/drawing/2014/main" id="{A1327F52-20A2-2006-44CF-1E9F4BEF3D8E}"/>
              </a:ext>
            </a:extLst>
          </p:cNvPr>
          <p:cNvSpPr/>
          <p:nvPr/>
        </p:nvSpPr>
        <p:spPr>
          <a:xfrm>
            <a:off x="274320" y="5951309"/>
            <a:ext cx="8595360" cy="228600"/>
          </a:xfrm>
          <a:prstGeom prst="rect">
            <a:avLst/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2" name="Text 50">
            <a:extLst>
              <a:ext uri="{FF2B5EF4-FFF2-40B4-BE49-F238E27FC236}">
                <a16:creationId xmlns:a16="http://schemas.microsoft.com/office/drawing/2014/main" id="{4B3A226F-C552-229A-3DF7-363D58DA78C2}"/>
              </a:ext>
            </a:extLst>
          </p:cNvPr>
          <p:cNvSpPr/>
          <p:nvPr/>
        </p:nvSpPr>
        <p:spPr>
          <a:xfrm>
            <a:off x="457200" y="5951309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Seller submits listing → Feature engineering → 5 ML models run in parallel → Outputs persisted to DB → TCO Card returned to buyer in &lt;500ms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30974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IN" sz="3100" dirty="0"/>
              <a:t>Project Details — Technology Stack &amp; Database Design</a:t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9</a:t>
            </a:fld>
            <a:endParaRPr lang="en-US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0494C89B-5882-849E-D0CA-D687F9D9AE6C}"/>
              </a:ext>
            </a:extLst>
          </p:cNvPr>
          <p:cNvSpPr/>
          <p:nvPr/>
        </p:nvSpPr>
        <p:spPr>
          <a:xfrm>
            <a:off x="365760" y="2209800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D42FACE5-4D62-7732-51CC-B811D18CAEE4}"/>
              </a:ext>
            </a:extLst>
          </p:cNvPr>
          <p:cNvSpPr/>
          <p:nvPr/>
        </p:nvSpPr>
        <p:spPr>
          <a:xfrm>
            <a:off x="457200" y="22463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B9CA5D1C-9FDC-8E04-29B3-A10FFBE8E109}"/>
              </a:ext>
            </a:extLst>
          </p:cNvPr>
          <p:cNvSpPr/>
          <p:nvPr/>
        </p:nvSpPr>
        <p:spPr>
          <a:xfrm>
            <a:off x="457200" y="24109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Flask 3.0</a:t>
            </a:r>
            <a:endParaRPr lang="en-US" sz="85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AC0775D9-56BD-4361-2BF0-D3B961C4F855}"/>
              </a:ext>
            </a:extLst>
          </p:cNvPr>
          <p:cNvSpPr/>
          <p:nvPr/>
        </p:nvSpPr>
        <p:spPr>
          <a:xfrm>
            <a:off x="1463040" y="22463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WSGI; native Scikit-learn integration</a:t>
            </a:r>
            <a:endParaRPr lang="en-US" sz="750" dirty="0"/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58F33C94-CBF9-9BBB-22D4-71D7FB78573D}"/>
              </a:ext>
            </a:extLst>
          </p:cNvPr>
          <p:cNvSpPr/>
          <p:nvPr/>
        </p:nvSpPr>
        <p:spPr>
          <a:xfrm>
            <a:off x="365760" y="2712720"/>
            <a:ext cx="420624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EBA6BE98-414F-2863-4F9C-5AB7491C562F}"/>
              </a:ext>
            </a:extLst>
          </p:cNvPr>
          <p:cNvSpPr/>
          <p:nvPr/>
        </p:nvSpPr>
        <p:spPr>
          <a:xfrm>
            <a:off x="457200" y="27492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 Science</a:t>
            </a:r>
            <a:endParaRPr lang="en-US" sz="800" dirty="0"/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9BB2422B-622F-9399-68CD-A4267BDAC98E}"/>
              </a:ext>
            </a:extLst>
          </p:cNvPr>
          <p:cNvSpPr/>
          <p:nvPr/>
        </p:nvSpPr>
        <p:spPr>
          <a:xfrm>
            <a:off x="457200" y="29138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1.4, Pandas 2.2, NumPy 1.26, Joblib 1.3</a:t>
            </a:r>
            <a:endParaRPr lang="en-US" sz="850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4B6A73D3-6F0D-9BC3-6DF8-9A031AC83CDE}"/>
              </a:ext>
            </a:extLst>
          </p:cNvPr>
          <p:cNvSpPr/>
          <p:nvPr/>
        </p:nvSpPr>
        <p:spPr>
          <a:xfrm>
            <a:off x="1463040" y="274929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serialisation for production-ready model serving</a:t>
            </a:r>
            <a:endParaRPr lang="en-US" sz="750" dirty="0"/>
          </a:p>
        </p:txBody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8BFA804B-C001-6088-69F2-603DC4ED8FD6}"/>
              </a:ext>
            </a:extLst>
          </p:cNvPr>
          <p:cNvSpPr/>
          <p:nvPr/>
        </p:nvSpPr>
        <p:spPr>
          <a:xfrm>
            <a:off x="365760" y="3215640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9977C5D4-6E34-01BA-AEE2-006EAC49C6F9}"/>
              </a:ext>
            </a:extLst>
          </p:cNvPr>
          <p:cNvSpPr/>
          <p:nvPr/>
        </p:nvSpPr>
        <p:spPr>
          <a:xfrm>
            <a:off x="457200" y="325221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8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27343DCB-5B68-16F3-C2DB-F251D80095F6}"/>
              </a:ext>
            </a:extLst>
          </p:cNvPr>
          <p:cNvSpPr/>
          <p:nvPr/>
        </p:nvSpPr>
        <p:spPr>
          <a:xfrm>
            <a:off x="457200" y="34168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4.9, Pillow 10.2</a:t>
            </a:r>
            <a:endParaRPr lang="en-US" sz="85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17EE810D-BCE8-7E17-3494-DDD3A25D8D63}"/>
              </a:ext>
            </a:extLst>
          </p:cNvPr>
          <p:cNvSpPr/>
          <p:nvPr/>
        </p:nvSpPr>
        <p:spPr>
          <a:xfrm>
            <a:off x="1463040" y="325221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CPU-based CV pipeline; no GPU dependency</a:t>
            </a:r>
            <a:endParaRPr lang="en-US" sz="750" dirty="0"/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2AB36735-B01D-DE4F-29DD-98654C7B2144}"/>
              </a:ext>
            </a:extLst>
          </p:cNvPr>
          <p:cNvSpPr/>
          <p:nvPr/>
        </p:nvSpPr>
        <p:spPr>
          <a:xfrm>
            <a:off x="365760" y="3718560"/>
            <a:ext cx="420624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E91D288E-6602-07B1-692A-E87FAD9798F9}"/>
              </a:ext>
            </a:extLst>
          </p:cNvPr>
          <p:cNvSpPr/>
          <p:nvPr/>
        </p:nvSpPr>
        <p:spPr>
          <a:xfrm>
            <a:off x="457200" y="375513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CE64D7AC-C981-DB4C-5AD3-E335B3F54FCA}"/>
              </a:ext>
            </a:extLst>
          </p:cNvPr>
          <p:cNvSpPr/>
          <p:nvPr/>
        </p:nvSpPr>
        <p:spPr>
          <a:xfrm>
            <a:off x="457200" y="39197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Flask-JWT-Extended 4.6, Flask-Bcrypt 1.0</a:t>
            </a:r>
            <a:endParaRPr lang="en-US" sz="850" dirty="0"/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6E3134CD-7664-C992-8F83-026B49AAA800}"/>
              </a:ext>
            </a:extLst>
          </p:cNvPr>
          <p:cNvSpPr/>
          <p:nvPr/>
        </p:nvSpPr>
        <p:spPr>
          <a:xfrm>
            <a:off x="1463040" y="375513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tokens; bcrypt hashing (cost factor 12)</a:t>
            </a:r>
            <a:endParaRPr lang="en-US" sz="750" dirty="0"/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1F59A392-8CCC-5DE1-DD35-B2854FBA6163}"/>
              </a:ext>
            </a:extLst>
          </p:cNvPr>
          <p:cNvSpPr/>
          <p:nvPr/>
        </p:nvSpPr>
        <p:spPr>
          <a:xfrm>
            <a:off x="365760" y="4221480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0CEB36D6-0ACD-9DC4-43F7-97875DB694BA}"/>
              </a:ext>
            </a:extLst>
          </p:cNvPr>
          <p:cNvSpPr/>
          <p:nvPr/>
        </p:nvSpPr>
        <p:spPr>
          <a:xfrm>
            <a:off x="457200" y="42580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C7980AFC-0A49-3879-3EAF-1FC13B332810}"/>
              </a:ext>
            </a:extLst>
          </p:cNvPr>
          <p:cNvSpPr/>
          <p:nvPr/>
        </p:nvSpPr>
        <p:spPr>
          <a:xfrm>
            <a:off x="457200" y="44226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3.45 (prototype) → MySQL 8.0 (production)</a:t>
            </a:r>
            <a:endParaRPr lang="en-US" sz="850" dirty="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B54ADE1F-9FC1-5E9C-1CBF-E55AF1003D71}"/>
              </a:ext>
            </a:extLst>
          </p:cNvPr>
          <p:cNvSpPr/>
          <p:nvPr/>
        </p:nvSpPr>
        <p:spPr>
          <a:xfrm>
            <a:off x="1463040" y="425805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ACID-compliant; Flask-SQLAlchemy ORM</a:t>
            </a:r>
            <a:endParaRPr lang="en-US" sz="7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425982B8-07FE-E0B8-A6BF-575984EAD375}"/>
              </a:ext>
            </a:extLst>
          </p:cNvPr>
          <p:cNvSpPr/>
          <p:nvPr/>
        </p:nvSpPr>
        <p:spPr>
          <a:xfrm>
            <a:off x="365760" y="4724400"/>
            <a:ext cx="420624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22909E0F-9F7F-4285-3329-7BBF1B5DB49C}"/>
              </a:ext>
            </a:extLst>
          </p:cNvPr>
          <p:cNvSpPr/>
          <p:nvPr/>
        </p:nvSpPr>
        <p:spPr>
          <a:xfrm>
            <a:off x="457200" y="47609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85B6E83A-081A-BF01-B2B6-BED9C4D230D7}"/>
              </a:ext>
            </a:extLst>
          </p:cNvPr>
          <p:cNvSpPr/>
          <p:nvPr/>
        </p:nvSpPr>
        <p:spPr>
          <a:xfrm>
            <a:off x="457200" y="49255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Vanilla JS — DM Sans / DM Serif Display</a:t>
            </a:r>
            <a:endParaRPr lang="en-US" sz="850" dirty="0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1AF2A28E-3059-49BF-2E9E-131610D4D080}"/>
              </a:ext>
            </a:extLst>
          </p:cNvPr>
          <p:cNvSpPr/>
          <p:nvPr/>
        </p:nvSpPr>
        <p:spPr>
          <a:xfrm>
            <a:off x="1463040" y="47609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Responsive; mobile-first; minimal JS dependency</a:t>
            </a:r>
            <a:endParaRPr lang="en-US" sz="750" dirty="0"/>
          </a:p>
        </p:txBody>
      </p:sp>
      <p:sp>
        <p:nvSpPr>
          <p:cNvPr id="31" name="Shape 35">
            <a:extLst>
              <a:ext uri="{FF2B5EF4-FFF2-40B4-BE49-F238E27FC236}">
                <a16:creationId xmlns:a16="http://schemas.microsoft.com/office/drawing/2014/main" id="{FC0DF881-9BFA-D4FC-680D-79967AE0A110}"/>
              </a:ext>
            </a:extLst>
          </p:cNvPr>
          <p:cNvSpPr/>
          <p:nvPr/>
        </p:nvSpPr>
        <p:spPr>
          <a:xfrm>
            <a:off x="365760" y="5227320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Text 36">
            <a:extLst>
              <a:ext uri="{FF2B5EF4-FFF2-40B4-BE49-F238E27FC236}">
                <a16:creationId xmlns:a16="http://schemas.microsoft.com/office/drawing/2014/main" id="{929F5853-FBFE-E1BB-DAA3-9FF68CC4DBEE}"/>
              </a:ext>
            </a:extLst>
          </p:cNvPr>
          <p:cNvSpPr/>
          <p:nvPr/>
        </p:nvSpPr>
        <p:spPr>
          <a:xfrm>
            <a:off x="457200" y="52638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/ API</a:t>
            </a:r>
            <a:endParaRPr lang="en-US" sz="800" dirty="0"/>
          </a:p>
        </p:txBody>
      </p:sp>
      <p:sp>
        <p:nvSpPr>
          <p:cNvPr id="33" name="Text 37">
            <a:extLst>
              <a:ext uri="{FF2B5EF4-FFF2-40B4-BE49-F238E27FC236}">
                <a16:creationId xmlns:a16="http://schemas.microsoft.com/office/drawing/2014/main" id="{D48BF2D4-A062-7CF3-AFE3-AE9F25D32C11}"/>
              </a:ext>
            </a:extLst>
          </p:cNvPr>
          <p:cNvSpPr/>
          <p:nvPr/>
        </p:nvSpPr>
        <p:spPr>
          <a:xfrm>
            <a:off x="457200" y="54284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 4.0</a:t>
            </a:r>
            <a:endParaRPr lang="en-US" sz="850" dirty="0"/>
          </a:p>
        </p:txBody>
      </p:sp>
      <p:sp>
        <p:nvSpPr>
          <p:cNvPr id="34" name="Text 38">
            <a:extLst>
              <a:ext uri="{FF2B5EF4-FFF2-40B4-BE49-F238E27FC236}">
                <a16:creationId xmlns:a16="http://schemas.microsoft.com/office/drawing/2014/main" id="{4D1F5632-957A-07CE-40D4-BD6F3118D585}"/>
              </a:ext>
            </a:extLst>
          </p:cNvPr>
          <p:cNvSpPr/>
          <p:nvPr/>
        </p:nvSpPr>
        <p:spPr>
          <a:xfrm>
            <a:off x="1463040" y="526389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frontend; future mobile app integration</a:t>
            </a:r>
            <a:endParaRPr lang="en-US" sz="750" dirty="0"/>
          </a:p>
        </p:txBody>
      </p:sp>
      <p:sp>
        <p:nvSpPr>
          <p:cNvPr id="35" name="Shape 41">
            <a:extLst>
              <a:ext uri="{FF2B5EF4-FFF2-40B4-BE49-F238E27FC236}">
                <a16:creationId xmlns:a16="http://schemas.microsoft.com/office/drawing/2014/main" id="{0F9B7954-2423-6025-F67D-D471D8809C9D}"/>
              </a:ext>
            </a:extLst>
          </p:cNvPr>
          <p:cNvSpPr/>
          <p:nvPr/>
        </p:nvSpPr>
        <p:spPr>
          <a:xfrm>
            <a:off x="4754880" y="2246376"/>
            <a:ext cx="411480" cy="2286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6" name="Text 42">
            <a:extLst>
              <a:ext uri="{FF2B5EF4-FFF2-40B4-BE49-F238E27FC236}">
                <a16:creationId xmlns:a16="http://schemas.microsoft.com/office/drawing/2014/main" id="{5CF4A91D-4383-D820-D5EF-D9EE8FD3EC65}"/>
              </a:ext>
            </a:extLst>
          </p:cNvPr>
          <p:cNvSpPr/>
          <p:nvPr/>
        </p:nvSpPr>
        <p:spPr>
          <a:xfrm>
            <a:off x="4754880" y="224637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37" name="Text 43">
            <a:extLst>
              <a:ext uri="{FF2B5EF4-FFF2-40B4-BE49-F238E27FC236}">
                <a16:creationId xmlns:a16="http://schemas.microsoft.com/office/drawing/2014/main" id="{136A9A28-7165-7228-8423-4DDA1597D9A2}"/>
              </a:ext>
            </a:extLst>
          </p:cNvPr>
          <p:cNvSpPr/>
          <p:nvPr/>
        </p:nvSpPr>
        <p:spPr>
          <a:xfrm>
            <a:off x="5212080" y="224637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750" dirty="0"/>
          </a:p>
        </p:txBody>
      </p:sp>
      <p:sp>
        <p:nvSpPr>
          <p:cNvPr id="38" name="Text 44">
            <a:extLst>
              <a:ext uri="{FF2B5EF4-FFF2-40B4-BE49-F238E27FC236}">
                <a16:creationId xmlns:a16="http://schemas.microsoft.com/office/drawing/2014/main" id="{4C9D2B5C-0440-50BE-F918-E22E395396A5}"/>
              </a:ext>
            </a:extLst>
          </p:cNvPr>
          <p:cNvSpPr/>
          <p:nvPr/>
        </p:nvSpPr>
        <p:spPr>
          <a:xfrm>
            <a:off x="7132320" y="22463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seller or buyer</a:t>
            </a:r>
            <a:endParaRPr lang="en-US" sz="700" dirty="0"/>
          </a:p>
        </p:txBody>
      </p:sp>
      <p:sp>
        <p:nvSpPr>
          <p:cNvPr id="39" name="Shape 46">
            <a:extLst>
              <a:ext uri="{FF2B5EF4-FFF2-40B4-BE49-F238E27FC236}">
                <a16:creationId xmlns:a16="http://schemas.microsoft.com/office/drawing/2014/main" id="{263D581A-2A1F-3EEB-3EEF-8ED17E71CE3D}"/>
              </a:ext>
            </a:extLst>
          </p:cNvPr>
          <p:cNvSpPr/>
          <p:nvPr/>
        </p:nvSpPr>
        <p:spPr>
          <a:xfrm>
            <a:off x="4754880" y="2593848"/>
            <a:ext cx="411480" cy="2286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0" name="Text 47">
            <a:extLst>
              <a:ext uri="{FF2B5EF4-FFF2-40B4-BE49-F238E27FC236}">
                <a16:creationId xmlns:a16="http://schemas.microsoft.com/office/drawing/2014/main" id="{EA49FE48-6DB8-7B8C-1A37-0852E470F01C}"/>
              </a:ext>
            </a:extLst>
          </p:cNvPr>
          <p:cNvSpPr/>
          <p:nvPr/>
        </p:nvSpPr>
        <p:spPr>
          <a:xfrm>
            <a:off x="4754880" y="25938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41" name="Text 48">
            <a:extLst>
              <a:ext uri="{FF2B5EF4-FFF2-40B4-BE49-F238E27FC236}">
                <a16:creationId xmlns:a16="http://schemas.microsoft.com/office/drawing/2014/main" id="{A61DE9DC-2EA9-B6D7-8E22-D2463A7B3314}"/>
              </a:ext>
            </a:extLst>
          </p:cNvPr>
          <p:cNvSpPr/>
          <p:nvPr/>
        </p:nvSpPr>
        <p:spPr>
          <a:xfrm>
            <a:off x="5212080" y="2593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750" dirty="0"/>
          </a:p>
        </p:txBody>
      </p:sp>
      <p:sp>
        <p:nvSpPr>
          <p:cNvPr id="42" name="Text 49">
            <a:extLst>
              <a:ext uri="{FF2B5EF4-FFF2-40B4-BE49-F238E27FC236}">
                <a16:creationId xmlns:a16="http://schemas.microsoft.com/office/drawing/2014/main" id="{04748745-32FD-9CBF-417B-A2ADE664B2C6}"/>
              </a:ext>
            </a:extLst>
          </p:cNvPr>
          <p:cNvSpPr/>
          <p:nvPr/>
        </p:nvSpPr>
        <p:spPr>
          <a:xfrm>
            <a:off x="7132320" y="2593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Authenticate; receive JWT token</a:t>
            </a:r>
            <a:endParaRPr lang="en-US" sz="700" dirty="0"/>
          </a:p>
        </p:txBody>
      </p:sp>
      <p:sp>
        <p:nvSpPr>
          <p:cNvPr id="43" name="Shape 51">
            <a:extLst>
              <a:ext uri="{FF2B5EF4-FFF2-40B4-BE49-F238E27FC236}">
                <a16:creationId xmlns:a16="http://schemas.microsoft.com/office/drawing/2014/main" id="{6ED98F13-BFD8-AC27-0422-BD3F0332E4EF}"/>
              </a:ext>
            </a:extLst>
          </p:cNvPr>
          <p:cNvSpPr/>
          <p:nvPr/>
        </p:nvSpPr>
        <p:spPr>
          <a:xfrm>
            <a:off x="4754880" y="2941320"/>
            <a:ext cx="411480" cy="2286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4" name="Text 52">
            <a:extLst>
              <a:ext uri="{FF2B5EF4-FFF2-40B4-BE49-F238E27FC236}">
                <a16:creationId xmlns:a16="http://schemas.microsoft.com/office/drawing/2014/main" id="{B58D24EF-E4E1-65AC-7365-63921A53B03D}"/>
              </a:ext>
            </a:extLst>
          </p:cNvPr>
          <p:cNvSpPr/>
          <p:nvPr/>
        </p:nvSpPr>
        <p:spPr>
          <a:xfrm>
            <a:off x="4754880" y="294132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45" name="Text 53">
            <a:extLst>
              <a:ext uri="{FF2B5EF4-FFF2-40B4-BE49-F238E27FC236}">
                <a16:creationId xmlns:a16="http://schemas.microsoft.com/office/drawing/2014/main" id="{E438FB2E-4414-D81F-8893-CB64826792F0}"/>
              </a:ext>
            </a:extLst>
          </p:cNvPr>
          <p:cNvSpPr/>
          <p:nvPr/>
        </p:nvSpPr>
        <p:spPr>
          <a:xfrm>
            <a:off x="5212080" y="2941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/api/cars/</a:t>
            </a:r>
            <a:endParaRPr lang="en-US" sz="750" dirty="0"/>
          </a:p>
        </p:txBody>
      </p:sp>
      <p:sp>
        <p:nvSpPr>
          <p:cNvPr id="46" name="Text 54">
            <a:extLst>
              <a:ext uri="{FF2B5EF4-FFF2-40B4-BE49-F238E27FC236}">
                <a16:creationId xmlns:a16="http://schemas.microsoft.com/office/drawing/2014/main" id="{F3564628-F022-91D8-0571-7DD13C1C65A8}"/>
              </a:ext>
            </a:extLst>
          </p:cNvPr>
          <p:cNvSpPr/>
          <p:nvPr/>
        </p:nvSpPr>
        <p:spPr>
          <a:xfrm>
            <a:off x="7132320" y="2941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listing; triggers all 5 AI modules</a:t>
            </a:r>
            <a:endParaRPr lang="en-US" sz="700" dirty="0"/>
          </a:p>
        </p:txBody>
      </p:sp>
      <p:sp>
        <p:nvSpPr>
          <p:cNvPr id="47" name="Shape 56">
            <a:extLst>
              <a:ext uri="{FF2B5EF4-FFF2-40B4-BE49-F238E27FC236}">
                <a16:creationId xmlns:a16="http://schemas.microsoft.com/office/drawing/2014/main" id="{9A239A5E-0F46-7CC9-CAEB-35D4D4222E4E}"/>
              </a:ext>
            </a:extLst>
          </p:cNvPr>
          <p:cNvSpPr/>
          <p:nvPr/>
        </p:nvSpPr>
        <p:spPr>
          <a:xfrm>
            <a:off x="4754880" y="3288792"/>
            <a:ext cx="41148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57">
            <a:extLst>
              <a:ext uri="{FF2B5EF4-FFF2-40B4-BE49-F238E27FC236}">
                <a16:creationId xmlns:a16="http://schemas.microsoft.com/office/drawing/2014/main" id="{71B04AFD-22F5-8547-38A6-E7EF3A1BEBAD}"/>
              </a:ext>
            </a:extLst>
          </p:cNvPr>
          <p:cNvSpPr/>
          <p:nvPr/>
        </p:nvSpPr>
        <p:spPr>
          <a:xfrm>
            <a:off x="4754880" y="328879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49" name="Text 58">
            <a:extLst>
              <a:ext uri="{FF2B5EF4-FFF2-40B4-BE49-F238E27FC236}">
                <a16:creationId xmlns:a16="http://schemas.microsoft.com/office/drawing/2014/main" id="{FCEE9129-35CA-426C-631C-804A344E4CD5}"/>
              </a:ext>
            </a:extLst>
          </p:cNvPr>
          <p:cNvSpPr/>
          <p:nvPr/>
        </p:nvSpPr>
        <p:spPr>
          <a:xfrm>
            <a:off x="5212080" y="3288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/api/cars/</a:t>
            </a:r>
            <a:endParaRPr lang="en-US" sz="750" dirty="0"/>
          </a:p>
        </p:txBody>
      </p:sp>
      <p:sp>
        <p:nvSpPr>
          <p:cNvPr id="50" name="Text 59">
            <a:extLst>
              <a:ext uri="{FF2B5EF4-FFF2-40B4-BE49-F238E27FC236}">
                <a16:creationId xmlns:a16="http://schemas.microsoft.com/office/drawing/2014/main" id="{D26DF142-557C-FA2A-E61C-8992EFE11AE6}"/>
              </a:ext>
            </a:extLst>
          </p:cNvPr>
          <p:cNvSpPr/>
          <p:nvPr/>
        </p:nvSpPr>
        <p:spPr>
          <a:xfrm>
            <a:off x="7132320" y="3288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with filter &amp; search params</a:t>
            </a:r>
            <a:endParaRPr lang="en-US" sz="700" dirty="0"/>
          </a:p>
        </p:txBody>
      </p:sp>
      <p:sp>
        <p:nvSpPr>
          <p:cNvPr id="51" name="Shape 61">
            <a:extLst>
              <a:ext uri="{FF2B5EF4-FFF2-40B4-BE49-F238E27FC236}">
                <a16:creationId xmlns:a16="http://schemas.microsoft.com/office/drawing/2014/main" id="{DCE8933D-E82E-749E-9545-413D6EC05A81}"/>
              </a:ext>
            </a:extLst>
          </p:cNvPr>
          <p:cNvSpPr/>
          <p:nvPr/>
        </p:nvSpPr>
        <p:spPr>
          <a:xfrm>
            <a:off x="4754880" y="3636264"/>
            <a:ext cx="41148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62">
            <a:extLst>
              <a:ext uri="{FF2B5EF4-FFF2-40B4-BE49-F238E27FC236}">
                <a16:creationId xmlns:a16="http://schemas.microsoft.com/office/drawing/2014/main" id="{3E9638DD-AA26-996D-DBCF-BFC97DBB106E}"/>
              </a:ext>
            </a:extLst>
          </p:cNvPr>
          <p:cNvSpPr/>
          <p:nvPr/>
        </p:nvSpPr>
        <p:spPr>
          <a:xfrm>
            <a:off x="4754880" y="3636264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53" name="Text 63">
            <a:extLst>
              <a:ext uri="{FF2B5EF4-FFF2-40B4-BE49-F238E27FC236}">
                <a16:creationId xmlns:a16="http://schemas.microsoft.com/office/drawing/2014/main" id="{9E79BCBE-F5A1-502F-C27D-77E81B5A5017}"/>
              </a:ext>
            </a:extLst>
          </p:cNvPr>
          <p:cNvSpPr/>
          <p:nvPr/>
        </p:nvSpPr>
        <p:spPr>
          <a:xfrm>
            <a:off x="5212080" y="36362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/api/cars/&lt;id&gt;</a:t>
            </a:r>
            <a:endParaRPr lang="en-US" sz="750" dirty="0"/>
          </a:p>
        </p:txBody>
      </p:sp>
      <p:sp>
        <p:nvSpPr>
          <p:cNvPr id="54" name="Text 64">
            <a:extLst>
              <a:ext uri="{FF2B5EF4-FFF2-40B4-BE49-F238E27FC236}">
                <a16:creationId xmlns:a16="http://schemas.microsoft.com/office/drawing/2014/main" id="{5C2BC9A4-B964-52B2-AA3C-EE6ABC31DCAB}"/>
              </a:ext>
            </a:extLst>
          </p:cNvPr>
          <p:cNvSpPr/>
          <p:nvPr/>
        </p:nvSpPr>
        <p:spPr>
          <a:xfrm>
            <a:off x="7132320" y="36362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listing detail with TCO Card</a:t>
            </a:r>
            <a:endParaRPr lang="en-US" sz="700" dirty="0"/>
          </a:p>
        </p:txBody>
      </p:sp>
      <p:sp>
        <p:nvSpPr>
          <p:cNvPr id="55" name="Shape 66">
            <a:extLst>
              <a:ext uri="{FF2B5EF4-FFF2-40B4-BE49-F238E27FC236}">
                <a16:creationId xmlns:a16="http://schemas.microsoft.com/office/drawing/2014/main" id="{D456D584-41DE-3A63-ADD4-9276A7687364}"/>
              </a:ext>
            </a:extLst>
          </p:cNvPr>
          <p:cNvSpPr/>
          <p:nvPr/>
        </p:nvSpPr>
        <p:spPr>
          <a:xfrm>
            <a:off x="4754880" y="3983736"/>
            <a:ext cx="411480" cy="2286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6" name="Text 67">
            <a:extLst>
              <a:ext uri="{FF2B5EF4-FFF2-40B4-BE49-F238E27FC236}">
                <a16:creationId xmlns:a16="http://schemas.microsoft.com/office/drawing/2014/main" id="{0B366ADA-331B-DD9F-6883-8519BB917492}"/>
              </a:ext>
            </a:extLst>
          </p:cNvPr>
          <p:cNvSpPr/>
          <p:nvPr/>
        </p:nvSpPr>
        <p:spPr>
          <a:xfrm>
            <a:off x="4754880" y="398373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57" name="Text 68">
            <a:extLst>
              <a:ext uri="{FF2B5EF4-FFF2-40B4-BE49-F238E27FC236}">
                <a16:creationId xmlns:a16="http://schemas.microsoft.com/office/drawing/2014/main" id="{0208ECBA-19AA-08BF-F1E8-1B46651BA317}"/>
              </a:ext>
            </a:extLst>
          </p:cNvPr>
          <p:cNvSpPr/>
          <p:nvPr/>
        </p:nvSpPr>
        <p:spPr>
          <a:xfrm>
            <a:off x="5212080" y="398373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/api/predictions/price</a:t>
            </a:r>
            <a:endParaRPr lang="en-US" sz="750" dirty="0"/>
          </a:p>
        </p:txBody>
      </p:sp>
      <p:sp>
        <p:nvSpPr>
          <p:cNvPr id="58" name="Text 69">
            <a:extLst>
              <a:ext uri="{FF2B5EF4-FFF2-40B4-BE49-F238E27FC236}">
                <a16:creationId xmlns:a16="http://schemas.microsoft.com/office/drawing/2014/main" id="{D5A28010-5F15-B31D-785D-9D8C58B2C871}"/>
              </a:ext>
            </a:extLst>
          </p:cNvPr>
          <p:cNvSpPr/>
          <p:nvPr/>
        </p:nvSpPr>
        <p:spPr>
          <a:xfrm>
            <a:off x="7132320" y="39837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price prediction</a:t>
            </a:r>
            <a:endParaRPr lang="en-US" sz="700" dirty="0"/>
          </a:p>
        </p:txBody>
      </p:sp>
      <p:sp>
        <p:nvSpPr>
          <p:cNvPr id="59" name="Shape 71">
            <a:extLst>
              <a:ext uri="{FF2B5EF4-FFF2-40B4-BE49-F238E27FC236}">
                <a16:creationId xmlns:a16="http://schemas.microsoft.com/office/drawing/2014/main" id="{6E9F19F4-1762-A103-4F65-C7647D91F64C}"/>
              </a:ext>
            </a:extLst>
          </p:cNvPr>
          <p:cNvSpPr/>
          <p:nvPr/>
        </p:nvSpPr>
        <p:spPr>
          <a:xfrm>
            <a:off x="4754880" y="4331208"/>
            <a:ext cx="411480" cy="2286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0" name="Text 72">
            <a:extLst>
              <a:ext uri="{FF2B5EF4-FFF2-40B4-BE49-F238E27FC236}">
                <a16:creationId xmlns:a16="http://schemas.microsoft.com/office/drawing/2014/main" id="{E2C590B3-59FD-9717-ADA4-528E9ED1C5BF}"/>
              </a:ext>
            </a:extLst>
          </p:cNvPr>
          <p:cNvSpPr/>
          <p:nvPr/>
        </p:nvSpPr>
        <p:spPr>
          <a:xfrm>
            <a:off x="4754880" y="4331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61" name="Text 73">
            <a:extLst>
              <a:ext uri="{FF2B5EF4-FFF2-40B4-BE49-F238E27FC236}">
                <a16:creationId xmlns:a16="http://schemas.microsoft.com/office/drawing/2014/main" id="{6D8F2602-DC8A-FCDD-8BBD-2643EB959D8C}"/>
              </a:ext>
            </a:extLst>
          </p:cNvPr>
          <p:cNvSpPr/>
          <p:nvPr/>
        </p:nvSpPr>
        <p:spPr>
          <a:xfrm>
            <a:off x="5212080" y="43312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/api/predictions/maintenance</a:t>
            </a:r>
            <a:endParaRPr lang="en-US" sz="750" dirty="0"/>
          </a:p>
        </p:txBody>
      </p:sp>
      <p:sp>
        <p:nvSpPr>
          <p:cNvPr id="62" name="Text 74">
            <a:extLst>
              <a:ext uri="{FF2B5EF4-FFF2-40B4-BE49-F238E27FC236}">
                <a16:creationId xmlns:a16="http://schemas.microsoft.com/office/drawing/2014/main" id="{858D3FF1-0AEF-24BA-B9FE-5BDFA007C0E4}"/>
              </a:ext>
            </a:extLst>
          </p:cNvPr>
          <p:cNvSpPr/>
          <p:nvPr/>
        </p:nvSpPr>
        <p:spPr>
          <a:xfrm>
            <a:off x="7132320" y="4331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2-yr maintenance estimate</a:t>
            </a:r>
            <a:endParaRPr lang="en-US" sz="700" dirty="0"/>
          </a:p>
        </p:txBody>
      </p:sp>
      <p:sp>
        <p:nvSpPr>
          <p:cNvPr id="63" name="Shape 76">
            <a:extLst>
              <a:ext uri="{FF2B5EF4-FFF2-40B4-BE49-F238E27FC236}">
                <a16:creationId xmlns:a16="http://schemas.microsoft.com/office/drawing/2014/main" id="{BB2387E7-5619-59F8-6F00-C0EDC5E8656E}"/>
              </a:ext>
            </a:extLst>
          </p:cNvPr>
          <p:cNvSpPr/>
          <p:nvPr/>
        </p:nvSpPr>
        <p:spPr>
          <a:xfrm>
            <a:off x="4754880" y="4678680"/>
            <a:ext cx="411480" cy="2286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4" name="Text 77">
            <a:extLst>
              <a:ext uri="{FF2B5EF4-FFF2-40B4-BE49-F238E27FC236}">
                <a16:creationId xmlns:a16="http://schemas.microsoft.com/office/drawing/2014/main" id="{324CECBD-39C6-BB1B-9025-B0F2D64054C7}"/>
              </a:ext>
            </a:extLst>
          </p:cNvPr>
          <p:cNvSpPr/>
          <p:nvPr/>
        </p:nvSpPr>
        <p:spPr>
          <a:xfrm>
            <a:off x="4754880" y="467868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65" name="Text 78">
            <a:extLst>
              <a:ext uri="{FF2B5EF4-FFF2-40B4-BE49-F238E27FC236}">
                <a16:creationId xmlns:a16="http://schemas.microsoft.com/office/drawing/2014/main" id="{A661309D-CEEB-4866-F66C-98FF960F1710}"/>
              </a:ext>
            </a:extLst>
          </p:cNvPr>
          <p:cNvSpPr/>
          <p:nvPr/>
        </p:nvSpPr>
        <p:spPr>
          <a:xfrm>
            <a:off x="5212080" y="46786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/api/predictions/depreciation</a:t>
            </a:r>
            <a:endParaRPr lang="en-US" sz="750" dirty="0"/>
          </a:p>
        </p:txBody>
      </p:sp>
      <p:sp>
        <p:nvSpPr>
          <p:cNvPr id="66" name="Text 79">
            <a:extLst>
              <a:ext uri="{FF2B5EF4-FFF2-40B4-BE49-F238E27FC236}">
                <a16:creationId xmlns:a16="http://schemas.microsoft.com/office/drawing/2014/main" id="{F0A35220-6E7D-143A-7F92-9B0DE0D8C293}"/>
              </a:ext>
            </a:extLst>
          </p:cNvPr>
          <p:cNvSpPr/>
          <p:nvPr/>
        </p:nvSpPr>
        <p:spPr>
          <a:xfrm>
            <a:off x="7132320" y="4678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forecast</a:t>
            </a:r>
            <a:endParaRPr lang="en-US" sz="700" dirty="0"/>
          </a:p>
        </p:txBody>
      </p:sp>
      <p:sp>
        <p:nvSpPr>
          <p:cNvPr id="67" name="Shape 81">
            <a:extLst>
              <a:ext uri="{FF2B5EF4-FFF2-40B4-BE49-F238E27FC236}">
                <a16:creationId xmlns:a16="http://schemas.microsoft.com/office/drawing/2014/main" id="{4C08874F-3257-D303-254D-ABB25619C4DD}"/>
              </a:ext>
            </a:extLst>
          </p:cNvPr>
          <p:cNvSpPr/>
          <p:nvPr/>
        </p:nvSpPr>
        <p:spPr>
          <a:xfrm>
            <a:off x="4754880" y="5026152"/>
            <a:ext cx="411480" cy="2286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8" name="Text 82">
            <a:extLst>
              <a:ext uri="{FF2B5EF4-FFF2-40B4-BE49-F238E27FC236}">
                <a16:creationId xmlns:a16="http://schemas.microsoft.com/office/drawing/2014/main" id="{EEFA9E6A-00FD-058C-D0FD-B02D7C39AB8F}"/>
              </a:ext>
            </a:extLst>
          </p:cNvPr>
          <p:cNvSpPr/>
          <p:nvPr/>
        </p:nvSpPr>
        <p:spPr>
          <a:xfrm>
            <a:off x="4754880" y="502615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650" dirty="0"/>
          </a:p>
        </p:txBody>
      </p:sp>
      <p:sp>
        <p:nvSpPr>
          <p:cNvPr id="69" name="Text 83">
            <a:extLst>
              <a:ext uri="{FF2B5EF4-FFF2-40B4-BE49-F238E27FC236}">
                <a16:creationId xmlns:a16="http://schemas.microsoft.com/office/drawing/2014/main" id="{019BEA96-256E-6E79-E3D3-6731452708DE}"/>
              </a:ext>
            </a:extLst>
          </p:cNvPr>
          <p:cNvSpPr/>
          <p:nvPr/>
        </p:nvSpPr>
        <p:spPr>
          <a:xfrm>
            <a:off x="5212080" y="5026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/api/predictions/condition</a:t>
            </a:r>
            <a:endParaRPr lang="en-US" sz="750" dirty="0"/>
          </a:p>
        </p:txBody>
      </p:sp>
      <p:sp>
        <p:nvSpPr>
          <p:cNvPr id="70" name="Text 84">
            <a:extLst>
              <a:ext uri="{FF2B5EF4-FFF2-40B4-BE49-F238E27FC236}">
                <a16:creationId xmlns:a16="http://schemas.microsoft.com/office/drawing/2014/main" id="{BE7A95B8-4FA6-F0D2-6E8E-A0F5D2B18C39}"/>
              </a:ext>
            </a:extLst>
          </p:cNvPr>
          <p:cNvSpPr/>
          <p:nvPr/>
        </p:nvSpPr>
        <p:spPr>
          <a:xfrm>
            <a:off x="7132320" y="5026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condition analysis</a:t>
            </a:r>
            <a:endParaRPr lang="en-US" sz="700" dirty="0"/>
          </a:p>
        </p:txBody>
      </p:sp>
      <p:sp>
        <p:nvSpPr>
          <p:cNvPr id="71" name="Shape 86">
            <a:extLst>
              <a:ext uri="{FF2B5EF4-FFF2-40B4-BE49-F238E27FC236}">
                <a16:creationId xmlns:a16="http://schemas.microsoft.com/office/drawing/2014/main" id="{4EF3406C-33C4-6E44-8CB5-2A5E689C2D23}"/>
              </a:ext>
            </a:extLst>
          </p:cNvPr>
          <p:cNvSpPr/>
          <p:nvPr/>
        </p:nvSpPr>
        <p:spPr>
          <a:xfrm>
            <a:off x="4754880" y="5373624"/>
            <a:ext cx="41148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87">
            <a:extLst>
              <a:ext uri="{FF2B5EF4-FFF2-40B4-BE49-F238E27FC236}">
                <a16:creationId xmlns:a16="http://schemas.microsoft.com/office/drawing/2014/main" id="{AA293F53-DC27-0F25-D4C4-1098B42803D1}"/>
              </a:ext>
            </a:extLst>
          </p:cNvPr>
          <p:cNvSpPr/>
          <p:nvPr/>
        </p:nvSpPr>
        <p:spPr>
          <a:xfrm>
            <a:off x="4754880" y="5373624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650" dirty="0"/>
          </a:p>
        </p:txBody>
      </p:sp>
      <p:sp>
        <p:nvSpPr>
          <p:cNvPr id="73" name="Text 88">
            <a:extLst>
              <a:ext uri="{FF2B5EF4-FFF2-40B4-BE49-F238E27FC236}">
                <a16:creationId xmlns:a16="http://schemas.microsoft.com/office/drawing/2014/main" id="{A902F0D3-956D-D3DB-AB83-77B906369064}"/>
              </a:ext>
            </a:extLst>
          </p:cNvPr>
          <p:cNvSpPr/>
          <p:nvPr/>
        </p:nvSpPr>
        <p:spPr>
          <a:xfrm>
            <a:off x="5212080" y="537362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/api/cars/&lt;id&gt;/recommendations</a:t>
            </a:r>
            <a:endParaRPr lang="en-US" sz="750" dirty="0"/>
          </a:p>
        </p:txBody>
      </p:sp>
      <p:sp>
        <p:nvSpPr>
          <p:cNvPr id="74" name="Text 89">
            <a:extLst>
              <a:ext uri="{FF2B5EF4-FFF2-40B4-BE49-F238E27FC236}">
                <a16:creationId xmlns:a16="http://schemas.microsoft.com/office/drawing/2014/main" id="{B47D3C17-50FA-1C40-A462-0FCD8AC0A24B}"/>
              </a:ext>
            </a:extLst>
          </p:cNvPr>
          <p:cNvSpPr/>
          <p:nvPr/>
        </p:nvSpPr>
        <p:spPr>
          <a:xfrm>
            <a:off x="7132320" y="53736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similar listings (CBF)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100576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15">
            <a:extLst>
              <a:ext uri="{FF2B5EF4-FFF2-40B4-BE49-F238E27FC236}">
                <a16:creationId xmlns:a16="http://schemas.microsoft.com/office/drawing/2014/main" id="{D4377635-1960-39BA-01DE-0676F7E59D1F}"/>
              </a:ext>
            </a:extLst>
          </p:cNvPr>
          <p:cNvSpPr/>
          <p:nvPr/>
        </p:nvSpPr>
        <p:spPr>
          <a:xfrm>
            <a:off x="93115" y="3667845"/>
            <a:ext cx="2103120" cy="2371966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4536A18A-84B7-B276-73C0-2273E7480D4F}"/>
              </a:ext>
            </a:extLst>
          </p:cNvPr>
          <p:cNvSpPr/>
          <p:nvPr/>
        </p:nvSpPr>
        <p:spPr>
          <a:xfrm>
            <a:off x="91440" y="3213358"/>
            <a:ext cx="21031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36725"/>
            <a:ext cx="8155112" cy="365125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Details — Timeline (4 Phases)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>
              <a:lnSpc>
                <a:spcPct val="150000"/>
              </a:lnSpc>
            </a:pPr>
            <a:endParaRPr lang="en-US" sz="2200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10</a:t>
            </a:fld>
            <a:endParaRPr lang="en-US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7FCE3CBC-D98C-8C85-240E-8BB9C3F10AE2}"/>
              </a:ext>
            </a:extLst>
          </p:cNvPr>
          <p:cNvSpPr/>
          <p:nvPr/>
        </p:nvSpPr>
        <p:spPr>
          <a:xfrm>
            <a:off x="365760" y="21014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 — CarIQ TIP Project</a:t>
            </a:r>
            <a:endParaRPr lang="en-US" sz="1300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6C65FBF2-431E-9BF4-D659-2F5AD91DF612}"/>
              </a:ext>
            </a:extLst>
          </p:cNvPr>
          <p:cNvSpPr/>
          <p:nvPr/>
        </p:nvSpPr>
        <p:spPr>
          <a:xfrm>
            <a:off x="457200" y="2860412"/>
            <a:ext cx="8229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61D015D9-EB89-5E97-30C4-30E17E47EE4A}"/>
              </a:ext>
            </a:extLst>
          </p:cNvPr>
          <p:cNvSpPr/>
          <p:nvPr/>
        </p:nvSpPr>
        <p:spPr>
          <a:xfrm>
            <a:off x="8503920" y="2759828"/>
            <a:ext cx="274320" cy="40233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EC0A08C6-D6B3-8877-B335-A3AB23A9A20C}"/>
              </a:ext>
            </a:extLst>
          </p:cNvPr>
          <p:cNvSpPr/>
          <p:nvPr/>
        </p:nvSpPr>
        <p:spPr>
          <a:xfrm>
            <a:off x="932688" y="2787260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17F841AF-55C0-3F1A-C0BC-2802E6D75057}"/>
              </a:ext>
            </a:extLst>
          </p:cNvPr>
          <p:cNvSpPr/>
          <p:nvPr/>
        </p:nvSpPr>
        <p:spPr>
          <a:xfrm>
            <a:off x="457200" y="24306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80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2211EBC0-5274-7A6C-5AA0-CF65B4294551}"/>
              </a:ext>
            </a:extLst>
          </p:cNvPr>
          <p:cNvSpPr/>
          <p:nvPr/>
        </p:nvSpPr>
        <p:spPr>
          <a:xfrm>
            <a:off x="118872" y="3253604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850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B4850739-793A-C94F-152C-2AE953DE2048}"/>
              </a:ext>
            </a:extLst>
          </p:cNvPr>
          <p:cNvSpPr/>
          <p:nvPr/>
        </p:nvSpPr>
        <p:spPr>
          <a:xfrm>
            <a:off x="118872" y="34364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Research</a:t>
            </a:r>
            <a:endParaRPr lang="en-US" sz="750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40C3A5B4-7CFD-149D-E937-E96ABE512D48}"/>
              </a:ext>
            </a:extLst>
          </p:cNvPr>
          <p:cNvSpPr/>
          <p:nvPr/>
        </p:nvSpPr>
        <p:spPr>
          <a:xfrm>
            <a:off x="137160" y="3747380"/>
            <a:ext cx="193852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25+ research papers on ML-based car valuation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market analysis: IMARC, Mordor Intelligence, Verified Market Research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acquisition: CarDekho v3 dataset (8,128 listings)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framing: Purchase Decision Triangle identification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selection: Flask, Scikit-learn, SQLite, OpenCV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feature identification: brand class, regulatory risk, city tier</a:t>
            </a:r>
            <a:endParaRPr lang="en-US" sz="750" dirty="0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19B03782-FFA8-4EFA-035A-9BDB6D2953DA}"/>
              </a:ext>
            </a:extLst>
          </p:cNvPr>
          <p:cNvSpPr/>
          <p:nvPr/>
        </p:nvSpPr>
        <p:spPr>
          <a:xfrm>
            <a:off x="3218688" y="2787260"/>
            <a:ext cx="329184" cy="329184"/>
          </a:xfrm>
          <a:prstGeom prst="ellipse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29E6946A-6C09-8577-F293-9DA53502E3C7}"/>
              </a:ext>
            </a:extLst>
          </p:cNvPr>
          <p:cNvSpPr/>
          <p:nvPr/>
        </p:nvSpPr>
        <p:spPr>
          <a:xfrm>
            <a:off x="2743200" y="24306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800" dirty="0"/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5A0D9E4F-77E2-152D-29E0-432CDBE8BB14}"/>
              </a:ext>
            </a:extLst>
          </p:cNvPr>
          <p:cNvSpPr/>
          <p:nvPr/>
        </p:nvSpPr>
        <p:spPr>
          <a:xfrm>
            <a:off x="2331720" y="3226172"/>
            <a:ext cx="210312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27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05EAD2F5-815F-43AF-93BA-E9F6441E180B}"/>
              </a:ext>
            </a:extLst>
          </p:cNvPr>
          <p:cNvSpPr/>
          <p:nvPr/>
        </p:nvSpPr>
        <p:spPr>
          <a:xfrm>
            <a:off x="2331720" y="3226172"/>
            <a:ext cx="2103120" cy="47548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D1686E45-A301-917C-5503-7D38EBDA8679}"/>
              </a:ext>
            </a:extLst>
          </p:cNvPr>
          <p:cNvSpPr/>
          <p:nvPr/>
        </p:nvSpPr>
        <p:spPr>
          <a:xfrm>
            <a:off x="2404872" y="3253604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850" dirty="0"/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F8F7DAAB-1979-394C-50E6-D33E28902C13}"/>
              </a:ext>
            </a:extLst>
          </p:cNvPr>
          <p:cNvSpPr/>
          <p:nvPr/>
        </p:nvSpPr>
        <p:spPr>
          <a:xfrm>
            <a:off x="2404872" y="34364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Development</a:t>
            </a:r>
            <a:endParaRPr lang="en-US" sz="750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1613AA4D-22CE-5F91-EA9B-342E69E9D38D}"/>
              </a:ext>
            </a:extLst>
          </p:cNvPr>
          <p:cNvSpPr/>
          <p:nvPr/>
        </p:nvSpPr>
        <p:spPr>
          <a:xfrm>
            <a:off x="2423160" y="3747380"/>
            <a:ext cx="193852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architecture design: Input → Processing → Analysis → Output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pipeline: ColumnTransformer, OrdinalEncoder, StandardScaler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Random Forest price prediction (GridSearchCV tuning)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Histogram Gradient Boosting maintenance forecasting (novel)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Depreciation modeling with brand × fuel × age interactions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OpenCV condition pipeline (Gaussian blur → Canny → density score)</a:t>
            </a:r>
            <a:endParaRPr lang="en-US" sz="750" dirty="0"/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9414CF4D-BEB1-7A25-F7A8-92C39B8EE644}"/>
              </a:ext>
            </a:extLst>
          </p:cNvPr>
          <p:cNvSpPr/>
          <p:nvPr/>
        </p:nvSpPr>
        <p:spPr>
          <a:xfrm>
            <a:off x="5504688" y="278726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E03A6CC7-41AC-A96D-F599-7B730381C2FA}"/>
              </a:ext>
            </a:extLst>
          </p:cNvPr>
          <p:cNvSpPr/>
          <p:nvPr/>
        </p:nvSpPr>
        <p:spPr>
          <a:xfrm>
            <a:off x="5029200" y="24306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800" dirty="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94C47BD8-5136-1D06-78EB-7504645E9D3F}"/>
              </a:ext>
            </a:extLst>
          </p:cNvPr>
          <p:cNvSpPr/>
          <p:nvPr/>
        </p:nvSpPr>
        <p:spPr>
          <a:xfrm>
            <a:off x="4617720" y="3226172"/>
            <a:ext cx="210312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30">
            <a:extLst>
              <a:ext uri="{FF2B5EF4-FFF2-40B4-BE49-F238E27FC236}">
                <a16:creationId xmlns:a16="http://schemas.microsoft.com/office/drawing/2014/main" id="{B061D318-B670-6355-9F99-F48CCCFF144A}"/>
              </a:ext>
            </a:extLst>
          </p:cNvPr>
          <p:cNvSpPr/>
          <p:nvPr/>
        </p:nvSpPr>
        <p:spPr>
          <a:xfrm>
            <a:off x="4617720" y="3226172"/>
            <a:ext cx="21031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7E61A10C-10CA-33B8-BD48-C9F8D9B2866D}"/>
              </a:ext>
            </a:extLst>
          </p:cNvPr>
          <p:cNvSpPr/>
          <p:nvPr/>
        </p:nvSpPr>
        <p:spPr>
          <a:xfrm>
            <a:off x="4690872" y="3253604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850" dirty="0"/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49CA36C9-CE4B-AFA3-2813-7EA8F721A901}"/>
              </a:ext>
            </a:extLst>
          </p:cNvPr>
          <p:cNvSpPr/>
          <p:nvPr/>
        </p:nvSpPr>
        <p:spPr>
          <a:xfrm>
            <a:off x="4690872" y="34364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Backend</a:t>
            </a:r>
            <a:endParaRPr lang="en-US" sz="750" dirty="0"/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5EE72785-5C1A-06BE-42C9-08CA0BF17665}"/>
              </a:ext>
            </a:extLst>
          </p:cNvPr>
          <p:cNvSpPr/>
          <p:nvPr/>
        </p:nvSpPr>
        <p:spPr>
          <a:xfrm>
            <a:off x="4709160" y="3747380"/>
            <a:ext cx="193852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Dual-threshold fraud detection (price ratio + condition score)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API: 11 endpoints, JWT authentication, Flask-Bcrypt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schema: Users, Cars (with all ML outputs), Orders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Card integration: JSON aggregation, plain-language insight generation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recommender: TF-IDF cosine similarity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HTML5/CSS3/JS — role-differentiated buyer &amp; seller dashboards</a:t>
            </a:r>
            <a:endParaRPr lang="en-US" sz="750" dirty="0"/>
          </a:p>
        </p:txBody>
      </p:sp>
      <p:sp>
        <p:nvSpPr>
          <p:cNvPr id="29" name="Shape 34">
            <a:extLst>
              <a:ext uri="{FF2B5EF4-FFF2-40B4-BE49-F238E27FC236}">
                <a16:creationId xmlns:a16="http://schemas.microsoft.com/office/drawing/2014/main" id="{6C72B5F0-25D6-1CCE-C566-19EABEB991E8}"/>
              </a:ext>
            </a:extLst>
          </p:cNvPr>
          <p:cNvSpPr/>
          <p:nvPr/>
        </p:nvSpPr>
        <p:spPr>
          <a:xfrm>
            <a:off x="7790688" y="2787260"/>
            <a:ext cx="329184" cy="3291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B7B88317-46B7-4DD7-DF4B-13DAF981DC0E}"/>
              </a:ext>
            </a:extLst>
          </p:cNvPr>
          <p:cNvSpPr/>
          <p:nvPr/>
        </p:nvSpPr>
        <p:spPr>
          <a:xfrm>
            <a:off x="7315200" y="24306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13–16</a:t>
            </a:r>
            <a:endParaRPr lang="en-US" sz="800" dirty="0"/>
          </a:p>
        </p:txBody>
      </p:sp>
      <p:sp>
        <p:nvSpPr>
          <p:cNvPr id="31" name="Shape 36">
            <a:extLst>
              <a:ext uri="{FF2B5EF4-FFF2-40B4-BE49-F238E27FC236}">
                <a16:creationId xmlns:a16="http://schemas.microsoft.com/office/drawing/2014/main" id="{A0DF7682-27F2-6123-1896-39B1CAA974AA}"/>
              </a:ext>
            </a:extLst>
          </p:cNvPr>
          <p:cNvSpPr/>
          <p:nvPr/>
        </p:nvSpPr>
        <p:spPr>
          <a:xfrm>
            <a:off x="6903720" y="3226172"/>
            <a:ext cx="210312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7">
            <a:extLst>
              <a:ext uri="{FF2B5EF4-FFF2-40B4-BE49-F238E27FC236}">
                <a16:creationId xmlns:a16="http://schemas.microsoft.com/office/drawing/2014/main" id="{ABC30FD3-9BC7-8B1F-48F2-4AB68506CAC9}"/>
              </a:ext>
            </a:extLst>
          </p:cNvPr>
          <p:cNvSpPr/>
          <p:nvPr/>
        </p:nvSpPr>
        <p:spPr>
          <a:xfrm>
            <a:off x="6903720" y="3226172"/>
            <a:ext cx="210312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8">
            <a:extLst>
              <a:ext uri="{FF2B5EF4-FFF2-40B4-BE49-F238E27FC236}">
                <a16:creationId xmlns:a16="http://schemas.microsoft.com/office/drawing/2014/main" id="{1A7DF9CC-886E-A721-CFA7-8D6A1F3F60EF}"/>
              </a:ext>
            </a:extLst>
          </p:cNvPr>
          <p:cNvSpPr/>
          <p:nvPr/>
        </p:nvSpPr>
        <p:spPr>
          <a:xfrm>
            <a:off x="6976872" y="3253604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850" dirty="0"/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69188229-5573-961A-E447-9B0A9B45BC41}"/>
              </a:ext>
            </a:extLst>
          </p:cNvPr>
          <p:cNvSpPr/>
          <p:nvPr/>
        </p:nvSpPr>
        <p:spPr>
          <a:xfrm>
            <a:off x="6976872" y="34364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750" dirty="0"/>
          </a:p>
        </p:txBody>
      </p:sp>
      <p:sp>
        <p:nvSpPr>
          <p:cNvPr id="35" name="Text 40">
            <a:extLst>
              <a:ext uri="{FF2B5EF4-FFF2-40B4-BE49-F238E27FC236}">
                <a16:creationId xmlns:a16="http://schemas.microsoft.com/office/drawing/2014/main" id="{C23F5B6E-57E5-6856-B2D0-60B2CD8AE51C}"/>
              </a:ext>
            </a:extLst>
          </p:cNvPr>
          <p:cNvSpPr/>
          <p:nvPr/>
        </p:nvSpPr>
        <p:spPr>
          <a:xfrm>
            <a:off x="6995160" y="3747380"/>
            <a:ext cx="193852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evaluation: R² / MAE / RMSE across all 3 regression modules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evaluation: TPR=89.4%, FPR=6.2% (200 synthetic listings)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benchmarking: 180–220ms text inference, &lt;410ms with image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writing: IEEE-format, submitted for peer review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deployment: Flask + SQLite on local MacBook M2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README, API docs, model methodology report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38831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0F7E-0DB5-C5A0-3623-C82A42E6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87079"/>
            <a:ext cx="822960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Details — Model Performance &amp; Results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6BC12-776E-DEA1-3682-9E1BF5FA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33296-1C07-0F98-AE75-3E1AADF7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22008-22FC-026D-6425-4472AFBD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11</a:t>
            </a:fld>
            <a:endParaRPr lang="en-US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B0BBDFA4-A7ED-A73D-ABE1-1DFCCD0C3FF9}"/>
              </a:ext>
            </a:extLst>
          </p:cNvPr>
          <p:cNvSpPr/>
          <p:nvPr/>
        </p:nvSpPr>
        <p:spPr>
          <a:xfrm>
            <a:off x="364048" y="2059063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Results Across All Five AI Modules</a:t>
            </a:r>
            <a:endParaRPr lang="en-US" sz="12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3C40D043-E31B-F98A-F3A5-422071EDB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822972"/>
              </p:ext>
            </p:extLst>
          </p:nvPr>
        </p:nvGraphicFramePr>
        <p:xfrm>
          <a:off x="272608" y="2388247"/>
          <a:ext cx="8595360" cy="1508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Prediction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(300 est.)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₹70,583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₹1,61,962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Forecasting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Hist. Gradient Boosting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₹6,997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Modeling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₹13,623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loss 20.2%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&lt;90ms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Dual-threshold Rule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TPR 89.4% | FPR 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11">
            <a:extLst>
              <a:ext uri="{FF2B5EF4-FFF2-40B4-BE49-F238E27FC236}">
                <a16:creationId xmlns:a16="http://schemas.microsoft.com/office/drawing/2014/main" id="{D5BB0C41-FA97-CE41-E436-C85F77374366}"/>
              </a:ext>
            </a:extLst>
          </p:cNvPr>
          <p:cNvSpPr/>
          <p:nvPr/>
        </p:nvSpPr>
        <p:spPr>
          <a:xfrm>
            <a:off x="364048" y="4006735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Evaluation</a:t>
            </a:r>
            <a:endParaRPr lang="en-US" sz="1100" dirty="0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6F061D1A-54C0-8031-8705-5ACA4A55AE13}"/>
              </a:ext>
            </a:extLst>
          </p:cNvPr>
          <p:cNvSpPr/>
          <p:nvPr/>
        </p:nvSpPr>
        <p:spPr>
          <a:xfrm>
            <a:off x="272608" y="4308487"/>
            <a:ext cx="42062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0272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8A5936C3-26B9-47D1-7245-3005A0A2B652}"/>
              </a:ext>
            </a:extLst>
          </p:cNvPr>
          <p:cNvSpPr/>
          <p:nvPr/>
        </p:nvSpPr>
        <p:spPr>
          <a:xfrm>
            <a:off x="272608" y="4308487"/>
            <a:ext cx="45720" cy="8229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2D2E40F5-6E78-0D7B-1E78-A2B2D0550AB2}"/>
              </a:ext>
            </a:extLst>
          </p:cNvPr>
          <p:cNvSpPr/>
          <p:nvPr/>
        </p:nvSpPr>
        <p:spPr>
          <a:xfrm>
            <a:off x="382336" y="4363351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Module</a:t>
            </a:r>
            <a:endParaRPr lang="en-US" sz="9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AE62A1F8-09C2-E6CA-BE4F-A9A7504C4021}"/>
              </a:ext>
            </a:extLst>
          </p:cNvPr>
          <p:cNvSpPr/>
          <p:nvPr/>
        </p:nvSpPr>
        <p:spPr>
          <a:xfrm>
            <a:off x="382336" y="4582807"/>
            <a:ext cx="4005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R²=0.9424 achieved on 1,180 held-out records. Random Forest selected over Gradient Boosting (R²=0.9484) due to better RMSE tail-error control (₹1,61,962 vs ₹1,29,101). Linear Regression achieved only R²=0.8769, confirming non-linear interactions require ensemble methods.</a:t>
            </a:r>
            <a:endParaRPr lang="en-US" sz="8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0321BEFD-720B-1A05-F09F-99DF8BC9DA50}"/>
              </a:ext>
            </a:extLst>
          </p:cNvPr>
          <p:cNvSpPr/>
          <p:nvPr/>
        </p:nvSpPr>
        <p:spPr>
          <a:xfrm>
            <a:off x="4616008" y="4308487"/>
            <a:ext cx="42062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CA7F8169-40E6-8DBF-E14F-F2AD9873DA09}"/>
              </a:ext>
            </a:extLst>
          </p:cNvPr>
          <p:cNvSpPr/>
          <p:nvPr/>
        </p:nvSpPr>
        <p:spPr>
          <a:xfrm>
            <a:off x="4616008" y="4308487"/>
            <a:ext cx="457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086D4658-327A-3633-AD8F-C19B674E2B41}"/>
              </a:ext>
            </a:extLst>
          </p:cNvPr>
          <p:cNvSpPr/>
          <p:nvPr/>
        </p:nvSpPr>
        <p:spPr>
          <a:xfrm>
            <a:off x="4725736" y="4363351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Module (Novel)</a:t>
            </a:r>
            <a:endParaRPr lang="en-US" sz="90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A23EB317-E5E9-B119-9F51-8F92F016BD7E}"/>
              </a:ext>
            </a:extLst>
          </p:cNvPr>
          <p:cNvSpPr/>
          <p:nvPr/>
        </p:nvSpPr>
        <p:spPr>
          <a:xfrm>
            <a:off x="4725736" y="4582807"/>
            <a:ext cx="4005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ML maintenance cost model for Indian used cars. R²=0.9769 confirms knowledge-distilled labels are internally consistent. Maruti petrol (₹23,139) vs diesel mid-SUV (₹50,000–₹85,000) — 200%+ variance made visible for the first time.</a:t>
            </a:r>
            <a:endParaRPr lang="en-US" sz="80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40A020BB-EAD9-E8B6-85CD-CEC364C6DA51}"/>
              </a:ext>
            </a:extLst>
          </p:cNvPr>
          <p:cNvSpPr/>
          <p:nvPr/>
        </p:nvSpPr>
        <p:spPr>
          <a:xfrm>
            <a:off x="272608" y="5241175"/>
            <a:ext cx="42062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6DC28B39-149A-4EB8-445A-C6AA886B372B}"/>
              </a:ext>
            </a:extLst>
          </p:cNvPr>
          <p:cNvSpPr/>
          <p:nvPr/>
        </p:nvSpPr>
        <p:spPr>
          <a:xfrm>
            <a:off x="272608" y="5241175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A1ECF8CB-07D2-413F-FB94-9DC34EA16CA1}"/>
              </a:ext>
            </a:extLst>
          </p:cNvPr>
          <p:cNvSpPr/>
          <p:nvPr/>
        </p:nvSpPr>
        <p:spPr>
          <a:xfrm>
            <a:off x="382336" y="5296039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Module</a:t>
            </a:r>
            <a:endParaRPr lang="en-US" sz="90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90B6F9D4-BF99-CCD8-F9C8-B8560F8F0507}"/>
              </a:ext>
            </a:extLst>
          </p:cNvPr>
          <p:cNvSpPr/>
          <p:nvPr/>
        </p:nvSpPr>
        <p:spPr>
          <a:xfrm>
            <a:off x="382336" y="5515495"/>
            <a:ext cx="4005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R²=0.9958 reflects structured projected price surface. Diesel averages 21.9% loss vs Petrol 18.0% — consistent with BS-VI norms documented in literature. Economy-HR brands retain 81.0% vs Mid-Reliability 77.7%.</a:t>
            </a:r>
            <a:endParaRPr lang="en-US" sz="800" dirty="0"/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C3ED7183-9394-970C-C809-77996BA4D47D}"/>
              </a:ext>
            </a:extLst>
          </p:cNvPr>
          <p:cNvSpPr/>
          <p:nvPr/>
        </p:nvSpPr>
        <p:spPr>
          <a:xfrm>
            <a:off x="4616008" y="5241175"/>
            <a:ext cx="42062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18FEA457-5DF5-FCF6-1C37-5ECAC9D94F35}"/>
              </a:ext>
            </a:extLst>
          </p:cNvPr>
          <p:cNvSpPr/>
          <p:nvPr/>
        </p:nvSpPr>
        <p:spPr>
          <a:xfrm>
            <a:off x="4616008" y="5241175"/>
            <a:ext cx="4572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2E7E88AB-040B-3D5C-94A7-9D67191005F1}"/>
              </a:ext>
            </a:extLst>
          </p:cNvPr>
          <p:cNvSpPr/>
          <p:nvPr/>
        </p:nvSpPr>
        <p:spPr>
          <a:xfrm>
            <a:off x="4725736" y="5296039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900" dirty="0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5A65DF74-90AD-FF6B-5FF9-54599840BC24}"/>
              </a:ext>
            </a:extLst>
          </p:cNvPr>
          <p:cNvSpPr/>
          <p:nvPr/>
        </p:nvSpPr>
        <p:spPr>
          <a:xfrm>
            <a:off x="4725736" y="5515495"/>
            <a:ext cx="4005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Dual-threshold (price_ratio &lt;0.60 AND condition_score &lt;40) reduces FPR to 6.2% vs 14.3% for price-only thresholding. Market adjustment (city tier + body type) applied to denominator reduces false positives for high-demand segments.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0614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E98E-41DA-487C-4926-81536F27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and Experience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5D87D-6E20-B0E9-B415-7785A7BF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F89CE-FE48-5969-8C56-61DC6B69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69305-6ED7-101A-B88F-0EC504A8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12</a:t>
            </a:fld>
            <a:endParaRPr lang="en-US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E05AA535-0850-4463-C0D6-4A24B36BA4A1}"/>
              </a:ext>
            </a:extLst>
          </p:cNvPr>
          <p:cNvSpPr/>
          <p:nvPr/>
        </p:nvSpPr>
        <p:spPr>
          <a:xfrm>
            <a:off x="365760" y="20749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Acquired · Challenges Overcome · Professional Growth</a:t>
            </a:r>
            <a:endParaRPr lang="en-US" sz="11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76C2391F-0A0C-BE7F-EE2B-91C5CA0A9BCB}"/>
              </a:ext>
            </a:extLst>
          </p:cNvPr>
          <p:cNvSpPr/>
          <p:nvPr/>
        </p:nvSpPr>
        <p:spPr>
          <a:xfrm>
            <a:off x="274320" y="2376652"/>
            <a:ext cx="42062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272D"/>
            </a:solidFill>
            <a:prstDash val="solid"/>
          </a:ln>
        </p:spPr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887B463B-E052-E746-4E10-CAE8BDE99561}"/>
              </a:ext>
            </a:extLst>
          </p:cNvPr>
          <p:cNvSpPr/>
          <p:nvPr/>
        </p:nvSpPr>
        <p:spPr>
          <a:xfrm>
            <a:off x="274320" y="2376652"/>
            <a:ext cx="4206240" cy="34747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E7830DD9-23AC-D9A4-EE55-2E00BB836757}"/>
              </a:ext>
            </a:extLst>
          </p:cNvPr>
          <p:cNvSpPr/>
          <p:nvPr/>
        </p:nvSpPr>
        <p:spPr>
          <a:xfrm>
            <a:off x="365760" y="23766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Acquired</a:t>
            </a:r>
            <a:endParaRPr lang="en-US" sz="11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2516ED2B-79CD-762B-F8E6-AC8F3AD39AA4}"/>
              </a:ext>
            </a:extLst>
          </p:cNvPr>
          <p:cNvSpPr/>
          <p:nvPr/>
        </p:nvSpPr>
        <p:spPr>
          <a:xfrm>
            <a:off x="365760" y="2769844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ML Pipelines — end-to-end serialisation with joblib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via 5-fold GridSearchCV on real tabular data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design — JWT auth, role-based access, CORS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image processing — Gaussian blur, Canny edge detection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Knowledge-distillation label generation for synthetic datasets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brand class encoding, regulatory risk scoring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SQLite/SQLAlchemy ORM schema design with ML output persistence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benchmarking: latency profiling on Apple M2</a:t>
            </a:r>
            <a:endParaRPr lang="en-US" sz="850" dirty="0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86900380-C32A-6F5F-8BE7-8592991B7376}"/>
              </a:ext>
            </a:extLst>
          </p:cNvPr>
          <p:cNvSpPr/>
          <p:nvPr/>
        </p:nvSpPr>
        <p:spPr>
          <a:xfrm>
            <a:off x="4663440" y="2376652"/>
            <a:ext cx="4251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11F24EEC-5C03-3E83-8AA5-E69DDB7AD62A}"/>
              </a:ext>
            </a:extLst>
          </p:cNvPr>
          <p:cNvSpPr/>
          <p:nvPr/>
        </p:nvSpPr>
        <p:spPr>
          <a:xfrm>
            <a:off x="4663440" y="2376652"/>
            <a:ext cx="4251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C2EBECEB-D0CD-9831-B3EA-7FF8AF3FB5C8}"/>
              </a:ext>
            </a:extLst>
          </p:cNvPr>
          <p:cNvSpPr/>
          <p:nvPr/>
        </p:nvSpPr>
        <p:spPr>
          <a:xfrm>
            <a:off x="4754880" y="237665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Professional Growth</a:t>
            </a:r>
            <a:endParaRPr lang="en-US" sz="11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6B3441DC-288A-DB29-7D1A-74CE8299D411}"/>
              </a:ext>
            </a:extLst>
          </p:cNvPr>
          <p:cNvSpPr/>
          <p:nvPr/>
        </p:nvSpPr>
        <p:spPr>
          <a:xfrm>
            <a:off x="4754880" y="2769844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survey: 25+ peer-reviewed papers on ML-based car valuation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research paper writing — abstract, methodology, results sections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research: Indian used car market dynamics and regulations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identified maintenance cost as unaddressed research area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analysis: CarDekho v3 — 8,128 records, 30 brands, statistical EDA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referencing: IMARC, Mordor Intelligence, Autocar India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delivery — from problem definition to deployment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and documentation of complex AI systems</a:t>
            </a:r>
            <a:endParaRPr lang="en-US" sz="850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C5AF922C-BD1C-DB48-A500-105C77A74B8D}"/>
              </a:ext>
            </a:extLst>
          </p:cNvPr>
          <p:cNvSpPr/>
          <p:nvPr/>
        </p:nvSpPr>
        <p:spPr>
          <a:xfrm>
            <a:off x="365760" y="47540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and How They Were Resolved</a:t>
            </a:r>
            <a:endParaRPr lang="en-US" sz="110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9157CDE7-07B4-4D4B-0910-61700B4D1D8A}"/>
              </a:ext>
            </a:extLst>
          </p:cNvPr>
          <p:cNvSpPr/>
          <p:nvPr/>
        </p:nvSpPr>
        <p:spPr>
          <a:xfrm>
            <a:off x="274320" y="5074132"/>
            <a:ext cx="425196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C1EB48E5-E730-6E7C-819B-81274E1B70E7}"/>
              </a:ext>
            </a:extLst>
          </p:cNvPr>
          <p:cNvSpPr/>
          <p:nvPr/>
        </p:nvSpPr>
        <p:spPr>
          <a:xfrm>
            <a:off x="274320" y="5074132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43AD7D99-C97C-9E2E-446D-3DA5AB3BC516}"/>
              </a:ext>
            </a:extLst>
          </p:cNvPr>
          <p:cNvSpPr/>
          <p:nvPr/>
        </p:nvSpPr>
        <p:spPr>
          <a:xfrm>
            <a:off x="384048" y="5110708"/>
            <a:ext cx="4050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No maintenance cost dataset</a:t>
            </a:r>
            <a:endParaRPr lang="en-US" sz="85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D2D6F547-855E-BFB8-E126-4D68E88119EC}"/>
              </a:ext>
            </a:extLst>
          </p:cNvPr>
          <p:cNvSpPr/>
          <p:nvPr/>
        </p:nvSpPr>
        <p:spPr>
          <a:xfrm>
            <a:off x="384048" y="5330164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Designed knowledge-distillation approach: rule-based label generation grounded in Autocar India data — first such approach in Indian ML literature</a:t>
            </a:r>
            <a:endParaRPr lang="en-US" sz="800" dirty="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31A1AB4B-009F-5F65-241F-084C2905FEA5}"/>
              </a:ext>
            </a:extLst>
          </p:cNvPr>
          <p:cNvSpPr/>
          <p:nvPr/>
        </p:nvSpPr>
        <p:spPr>
          <a:xfrm>
            <a:off x="4754880" y="5074132"/>
            <a:ext cx="425196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36BD736A-E1BF-0670-9BA1-4593E3259564}"/>
              </a:ext>
            </a:extLst>
          </p:cNvPr>
          <p:cNvSpPr/>
          <p:nvPr/>
        </p:nvSpPr>
        <p:spPr>
          <a:xfrm>
            <a:off x="4754880" y="5074132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B8093466-2AB9-22AC-0E9D-FFDA556D8626}"/>
              </a:ext>
            </a:extLst>
          </p:cNvPr>
          <p:cNvSpPr/>
          <p:nvPr/>
        </p:nvSpPr>
        <p:spPr>
          <a:xfrm>
            <a:off x="4864608" y="5110708"/>
            <a:ext cx="4050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India-specific regulatory complexity</a:t>
            </a:r>
            <a:endParaRPr lang="en-US" sz="850" dirty="0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7F9FF0CD-BFC4-8BB8-0E27-B409232D3A43}"/>
              </a:ext>
            </a:extLst>
          </p:cNvPr>
          <p:cNvSpPr/>
          <p:nvPr/>
        </p:nvSpPr>
        <p:spPr>
          <a:xfrm>
            <a:off x="4864608" y="5330164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Researched NGT/Supreme Court diesel phase-out orders and encoded as novel Regulatory Risk Score feature across depreciation and fraud modules</a:t>
            </a:r>
            <a:endParaRPr lang="en-US" sz="800" dirty="0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4706E825-92A3-35FB-3FBB-7198ACD078BF}"/>
              </a:ext>
            </a:extLst>
          </p:cNvPr>
          <p:cNvSpPr/>
          <p:nvPr/>
        </p:nvSpPr>
        <p:spPr>
          <a:xfrm>
            <a:off x="274320" y="5695924"/>
            <a:ext cx="425196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CF6044BF-6682-6E11-894C-23DD4D24B837}"/>
              </a:ext>
            </a:extLst>
          </p:cNvPr>
          <p:cNvSpPr/>
          <p:nvPr/>
        </p:nvSpPr>
        <p:spPr>
          <a:xfrm>
            <a:off x="274320" y="5695924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E120CABE-5DCD-611C-63AD-74B4E6296F7F}"/>
              </a:ext>
            </a:extLst>
          </p:cNvPr>
          <p:cNvSpPr/>
          <p:nvPr/>
        </p:nvSpPr>
        <p:spPr>
          <a:xfrm>
            <a:off x="384048" y="5732500"/>
            <a:ext cx="4050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High-cardinality categoricals</a:t>
            </a:r>
            <a:endParaRPr lang="en-US" sz="850" dirty="0"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BF947226-AE87-2C19-FF40-17DE7D9472BC}"/>
              </a:ext>
            </a:extLst>
          </p:cNvPr>
          <p:cNvSpPr/>
          <p:nvPr/>
        </p:nvSpPr>
        <p:spPr>
          <a:xfrm>
            <a:off x="384048" y="5951956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Used OrdinalEncoder with 'use_encoded_value' for unseen categories, wrapped in full Scikit-learn Pipeline for production-grade serialisation</a:t>
            </a:r>
            <a:endParaRPr lang="en-US" sz="800" dirty="0"/>
          </a:p>
        </p:txBody>
      </p:sp>
      <p:sp>
        <p:nvSpPr>
          <p:cNvPr id="55" name="Shape 32">
            <a:extLst>
              <a:ext uri="{FF2B5EF4-FFF2-40B4-BE49-F238E27FC236}">
                <a16:creationId xmlns:a16="http://schemas.microsoft.com/office/drawing/2014/main" id="{98BC06EA-F37E-15F5-13F0-E59F6BAD507C}"/>
              </a:ext>
            </a:extLst>
          </p:cNvPr>
          <p:cNvSpPr/>
          <p:nvPr/>
        </p:nvSpPr>
        <p:spPr>
          <a:xfrm>
            <a:off x="4754880" y="5695924"/>
            <a:ext cx="4251960" cy="548640"/>
          </a:xfrm>
          <a:prstGeom prst="rect">
            <a:avLst/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6" name="Shape 33">
            <a:extLst>
              <a:ext uri="{FF2B5EF4-FFF2-40B4-BE49-F238E27FC236}">
                <a16:creationId xmlns:a16="http://schemas.microsoft.com/office/drawing/2014/main" id="{4D12CF3D-EA66-0A4F-F602-419349F84530}"/>
              </a:ext>
            </a:extLst>
          </p:cNvPr>
          <p:cNvSpPr/>
          <p:nvPr/>
        </p:nvSpPr>
        <p:spPr>
          <a:xfrm>
            <a:off x="4754880" y="5695924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F5C75A0E-5274-22D9-A8A1-5A8355F8A501}"/>
              </a:ext>
            </a:extLst>
          </p:cNvPr>
          <p:cNvSpPr/>
          <p:nvPr/>
        </p:nvSpPr>
        <p:spPr>
          <a:xfrm>
            <a:off x="4864608" y="5732500"/>
            <a:ext cx="4050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Condition detection without GPU</a:t>
            </a:r>
            <a:endParaRPr lang="en-US" sz="850" dirty="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6C3AF2D2-6A3D-1D2D-3656-793E586CC7EF}"/>
              </a:ext>
            </a:extLst>
          </p:cNvPr>
          <p:cNvSpPr/>
          <p:nvPr/>
        </p:nvSpPr>
        <p:spPr>
          <a:xfrm>
            <a:off x="4864608" y="5951956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Selected OpenCV edge-density heuristic over CNN — enables deployment on shared hosting; documented as baseline with CNN upgrade path identified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64345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5919-6C94-2DE8-A5E3-8E2A2F25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and Future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D334B-7F61-E6AF-519B-0AF3E5B3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48419-AB0C-BA87-5937-9620310D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F560B-357E-D740-53BF-B7CEABA1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13</a:t>
            </a:fld>
            <a:endParaRPr lang="en-US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204F4B1B-2984-202D-1247-49CD4FD1B17B}"/>
              </a:ext>
            </a:extLst>
          </p:cNvPr>
          <p:cNvSpPr/>
          <p:nvPr/>
        </p:nvSpPr>
        <p:spPr>
          <a:xfrm>
            <a:off x="335280" y="2402660"/>
            <a:ext cx="42519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E880A87D-1EC7-B3F1-C545-81A80CA3369A}"/>
              </a:ext>
            </a:extLst>
          </p:cNvPr>
          <p:cNvSpPr/>
          <p:nvPr/>
        </p:nvSpPr>
        <p:spPr>
          <a:xfrm>
            <a:off x="335280" y="2402660"/>
            <a:ext cx="4251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9D702E1D-19AA-4BF0-F362-B5625230441E}"/>
              </a:ext>
            </a:extLst>
          </p:cNvPr>
          <p:cNvSpPr/>
          <p:nvPr/>
        </p:nvSpPr>
        <p:spPr>
          <a:xfrm>
            <a:off x="426720" y="240266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State — LIVE Prototype</a:t>
            </a:r>
            <a:endParaRPr lang="en-US" sz="110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911C2925-0F79-319F-820F-CEA9083BB72B}"/>
              </a:ext>
            </a:extLst>
          </p:cNvPr>
          <p:cNvSpPr/>
          <p:nvPr/>
        </p:nvSpPr>
        <p:spPr>
          <a:xfrm>
            <a:off x="472440" y="279585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with SQLite backend — fully functional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ML modules integrated and inference-tested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Card live for listing detail view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condition pipeline operational (&lt;90ms)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role-based buyer/seller access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research paper authored and ready for submission</a:t>
            </a:r>
            <a:endParaRPr lang="en-US" sz="900" dirty="0"/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A5939A89-F599-DB4E-307A-9F0C4BD06C4F}"/>
              </a:ext>
            </a:extLst>
          </p:cNvPr>
          <p:cNvSpPr/>
          <p:nvPr/>
        </p:nvSpPr>
        <p:spPr>
          <a:xfrm>
            <a:off x="4724400" y="2402660"/>
            <a:ext cx="42519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F8BE8B3D-095E-B7B1-DB66-A8A6F496C247}"/>
              </a:ext>
            </a:extLst>
          </p:cNvPr>
          <p:cNvSpPr/>
          <p:nvPr/>
        </p:nvSpPr>
        <p:spPr>
          <a:xfrm>
            <a:off x="4724400" y="2402660"/>
            <a:ext cx="42519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DE7D6A7A-8F2C-22F5-17BB-F590A2D2F760}"/>
              </a:ext>
            </a:extLst>
          </p:cNvPr>
          <p:cNvSpPr/>
          <p:nvPr/>
        </p:nvSpPr>
        <p:spPr>
          <a:xfrm>
            <a:off x="4815840" y="240266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Q3 2025 — Production Hardening</a:t>
            </a:r>
            <a:endParaRPr lang="en-US" sz="950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72709FF5-2B57-86B3-1CED-5201E6573215}"/>
              </a:ext>
            </a:extLst>
          </p:cNvPr>
          <p:cNvSpPr/>
          <p:nvPr/>
        </p:nvSpPr>
        <p:spPr>
          <a:xfrm>
            <a:off x="4815840" y="2722700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migration from SQLite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/ CatBoost upgrade for price module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layer (feature attribution)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Progressive Web App (PWA) release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and API rate limiting</a:t>
            </a:r>
            <a:endParaRPr lang="en-US" sz="850" dirty="0"/>
          </a:p>
        </p:txBody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F4854E27-8EBB-DB2B-5E97-FF929F7FFE7B}"/>
              </a:ext>
            </a:extLst>
          </p:cNvPr>
          <p:cNvSpPr/>
          <p:nvPr/>
        </p:nvSpPr>
        <p:spPr>
          <a:xfrm>
            <a:off x="4724400" y="3664532"/>
            <a:ext cx="42519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C0272D"/>
            </a:solidFill>
            <a:prstDash val="solid"/>
          </a:ln>
        </p:spPr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3D4098EC-F611-0D5A-8DDF-84CDF2F4735A}"/>
              </a:ext>
            </a:extLst>
          </p:cNvPr>
          <p:cNvSpPr/>
          <p:nvPr/>
        </p:nvSpPr>
        <p:spPr>
          <a:xfrm>
            <a:off x="4724400" y="3664532"/>
            <a:ext cx="4251960" cy="2926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C8DABBBA-1342-A1CB-96B5-5B090B9B49E5}"/>
              </a:ext>
            </a:extLst>
          </p:cNvPr>
          <p:cNvSpPr/>
          <p:nvPr/>
        </p:nvSpPr>
        <p:spPr>
          <a:xfrm>
            <a:off x="4815840" y="366453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Q1 2026 — Intelligence Expansion</a:t>
            </a:r>
            <a:endParaRPr lang="en-US" sz="95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7AAAD10E-B4F9-6F90-F582-34233E431C36}"/>
              </a:ext>
            </a:extLst>
          </p:cNvPr>
          <p:cNvSpPr/>
          <p:nvPr/>
        </p:nvSpPr>
        <p:spPr>
          <a:xfrm>
            <a:off x="4815840" y="398457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CNN condition model (replace OpenCV heuristic)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dynamic fraud detection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regulatory phase-out policy database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CBF + collaborative filtering recommender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trend monitoring dashboard</a:t>
            </a:r>
            <a:endParaRPr lang="en-US" sz="850" dirty="0"/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A9627806-B12F-066C-E48F-A635534CACCC}"/>
              </a:ext>
            </a:extLst>
          </p:cNvPr>
          <p:cNvSpPr/>
          <p:nvPr/>
        </p:nvSpPr>
        <p:spPr>
          <a:xfrm>
            <a:off x="4724400" y="4926404"/>
            <a:ext cx="42519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4D65EBAA-4150-65B9-BA60-65B678214B29}"/>
              </a:ext>
            </a:extLst>
          </p:cNvPr>
          <p:cNvSpPr/>
          <p:nvPr/>
        </p:nvSpPr>
        <p:spPr>
          <a:xfrm>
            <a:off x="4724400" y="4926404"/>
            <a:ext cx="425196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5F536059-3B69-9DAE-72CA-3BEB0129559D}"/>
              </a:ext>
            </a:extLst>
          </p:cNvPr>
          <p:cNvSpPr/>
          <p:nvPr/>
        </p:nvSpPr>
        <p:spPr>
          <a:xfrm>
            <a:off x="4815840" y="492640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2026+ — Platform Scale</a:t>
            </a:r>
            <a:endParaRPr lang="en-US" sz="950" dirty="0"/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98F0F1F3-F574-23F6-7A39-26365227A574}"/>
              </a:ext>
            </a:extLst>
          </p:cNvPr>
          <p:cNvSpPr/>
          <p:nvPr/>
        </p:nvSpPr>
        <p:spPr>
          <a:xfrm>
            <a:off x="4815840" y="5246444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service records integration (Cars24 / Spinny partnership)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 for insurers and lenders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resale validation dataset construction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TCO module (battery degradation modeling)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for Tier-2 market expansion</a:t>
            </a:r>
            <a:endParaRPr lang="en-US" sz="850" dirty="0"/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6F31884F-7792-7231-4B0F-B403D2165B0C}"/>
              </a:ext>
            </a:extLst>
          </p:cNvPr>
          <p:cNvSpPr/>
          <p:nvPr/>
        </p:nvSpPr>
        <p:spPr>
          <a:xfrm>
            <a:off x="426720" y="42040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 Comments</a:t>
            </a:r>
            <a:endParaRPr lang="en-US" sz="950" dirty="0"/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AFA8225D-5710-D7EE-042B-1AEC17CB85DE}"/>
              </a:ext>
            </a:extLst>
          </p:cNvPr>
          <p:cNvSpPr/>
          <p:nvPr/>
        </p:nvSpPr>
        <p:spPr>
          <a:xfrm>
            <a:off x="426720" y="444177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_______________________________________________________________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_______________________________________________________________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_______________________________________________________________</a:t>
            </a:r>
            <a:endParaRPr lang="en-US" sz="900" dirty="0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9E222898-A62A-F4F7-CBEF-34332B8BC1AC}"/>
              </a:ext>
            </a:extLst>
          </p:cNvPr>
          <p:cNvSpPr/>
          <p:nvPr/>
        </p:nvSpPr>
        <p:spPr>
          <a:xfrm>
            <a:off x="426720" y="53561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 Comments</a:t>
            </a:r>
            <a:endParaRPr lang="en-US" sz="950" dirty="0"/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BF4C61B8-4958-1498-1800-693B0952645F}"/>
              </a:ext>
            </a:extLst>
          </p:cNvPr>
          <p:cNvSpPr/>
          <p:nvPr/>
        </p:nvSpPr>
        <p:spPr>
          <a:xfrm>
            <a:off x="426720" y="557562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_______________________________________________________________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_______________________________________________________________</a:t>
            </a:r>
            <a:endParaRPr lang="en-US" sz="900" dirty="0"/>
          </a:p>
        </p:txBody>
      </p:sp>
      <p:sp>
        <p:nvSpPr>
          <p:cNvPr id="28" name="Shape 33">
            <a:extLst>
              <a:ext uri="{FF2B5EF4-FFF2-40B4-BE49-F238E27FC236}">
                <a16:creationId xmlns:a16="http://schemas.microsoft.com/office/drawing/2014/main" id="{2BB8EED2-4B35-D0B5-FADE-3B032EF6CC54}"/>
              </a:ext>
            </a:extLst>
          </p:cNvPr>
          <p:cNvSpPr/>
          <p:nvPr/>
        </p:nvSpPr>
        <p:spPr>
          <a:xfrm>
            <a:off x="335280" y="6051116"/>
            <a:ext cx="8595360" cy="7315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8224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6444-05C2-4DB9-99E3-3024D2735779}" type="datetime3">
              <a:rPr lang="en-US" smtClean="0"/>
              <a:t>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Engineering Dept. MPSTME, Mumbai Campus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3756-56D4-480A-AE5D-4130879C57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58566"/>
      </p:ext>
    </p:extLst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MPSTME</Template>
  <TotalTime>512</TotalTime>
  <Words>2800</Words>
  <Application>Microsoft Macintosh PowerPoint</Application>
  <PresentationFormat>On-screen Show (4:3)</PresentationFormat>
  <Paragraphs>438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Wingdings</vt:lpstr>
      <vt:lpstr>MPSTME</vt:lpstr>
      <vt:lpstr>Project Title</vt:lpstr>
      <vt:lpstr>Roadmap</vt:lpstr>
      <vt:lpstr>Introduction</vt:lpstr>
      <vt:lpstr> About the Organization </vt:lpstr>
      <vt:lpstr>About the Department</vt:lpstr>
      <vt:lpstr>Project Details</vt:lpstr>
      <vt:lpstr>Project Details (Timeline)</vt:lpstr>
      <vt:lpstr>Project Details – System Architecture</vt:lpstr>
      <vt:lpstr>Project Details — Technology Stack &amp; Database Design </vt:lpstr>
      <vt:lpstr>Project Details — Timeline (4 Phases) </vt:lpstr>
      <vt:lpstr>Project Details — Model Performance &amp; Results  </vt:lpstr>
      <vt:lpstr>Learning and Experience</vt:lpstr>
      <vt:lpstr>Comments and Future Plan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Dhirendra Mishra</dc:creator>
  <cp:lastModifiedBy>Mohammed Saad Nathani</cp:lastModifiedBy>
  <cp:revision>101</cp:revision>
  <dcterms:created xsi:type="dcterms:W3CDTF">2017-04-11T09:48:28Z</dcterms:created>
  <dcterms:modified xsi:type="dcterms:W3CDTF">2026-05-08T13:46:05Z</dcterms:modified>
</cp:coreProperties>
</file>